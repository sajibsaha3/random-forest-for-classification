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8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21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7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4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1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1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9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3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17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51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06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0899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05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1701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17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09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5C784-11B0-4379-A71F-8243D2DD4EA5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07E88-EC5D-4538-9B24-162C99748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625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D34CF7-A93B-3B41-4615-0529D936D31A}"/>
              </a:ext>
            </a:extLst>
          </p:cNvPr>
          <p:cNvSpPr txBox="1"/>
          <p:nvPr/>
        </p:nvSpPr>
        <p:spPr>
          <a:xfrm>
            <a:off x="1943724" y="1948722"/>
            <a:ext cx="8304551" cy="25545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FF0000"/>
                </a:solidFill>
                <a:latin typeface="Algerian" panose="04020705040A02060702" pitchFamily="82" charset="0"/>
              </a:rPr>
              <a:t>Ensemble</a:t>
            </a:r>
          </a:p>
          <a:p>
            <a:pPr algn="ctr"/>
            <a:r>
              <a:rPr lang="en-US" sz="8000" b="1" dirty="0">
                <a:solidFill>
                  <a:srgbClr val="FF0000"/>
                </a:solidFill>
                <a:latin typeface="Algerian" panose="04020705040A02060702" pitchFamily="82" charset="0"/>
              </a:rPr>
              <a:t>Learning</a:t>
            </a:r>
          </a:p>
        </p:txBody>
      </p:sp>
    </p:spTree>
    <p:extLst>
      <p:ext uri="{BB962C8B-B14F-4D97-AF65-F5344CB8AC3E}">
        <p14:creationId xmlns:p14="http://schemas.microsoft.com/office/powerpoint/2010/main" val="3485955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42828B-9485-62C7-0DDC-4ABC4FC2FFE7}"/>
              </a:ext>
            </a:extLst>
          </p:cNvPr>
          <p:cNvSpPr txBox="1"/>
          <p:nvPr/>
        </p:nvSpPr>
        <p:spPr>
          <a:xfrm>
            <a:off x="2217533" y="2336390"/>
            <a:ext cx="7615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Bagging VS Boosting VS Stacking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B4992-FABB-353A-F9D6-F1BC619B1B7E}"/>
              </a:ext>
            </a:extLst>
          </p:cNvPr>
          <p:cNvSpPr txBox="1"/>
          <p:nvPr/>
        </p:nvSpPr>
        <p:spPr>
          <a:xfrm>
            <a:off x="3183193" y="324465"/>
            <a:ext cx="55011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rgbClr val="FF0000"/>
                </a:solidFill>
                <a:effectLst/>
                <a:latin typeface="Google Sans"/>
              </a:rPr>
              <a:t>Ensemble Learning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26A76-5DBA-8846-5D1C-8D9B93128DEE}"/>
              </a:ext>
            </a:extLst>
          </p:cNvPr>
          <p:cNvSpPr txBox="1"/>
          <p:nvPr/>
        </p:nvSpPr>
        <p:spPr>
          <a:xfrm>
            <a:off x="403123" y="1014957"/>
            <a:ext cx="113857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Google Sans"/>
              </a:rPr>
              <a:t>A</a:t>
            </a:r>
            <a:r>
              <a:rPr lang="en-US" sz="2800" b="0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Google Sans"/>
              </a:rPr>
              <a:t>n ensemble model combines several individual models to produce more accurate predictions than a single model alone.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04BCC-E862-D2DB-907D-B72002E75194}"/>
              </a:ext>
            </a:extLst>
          </p:cNvPr>
          <p:cNvSpPr txBox="1"/>
          <p:nvPr/>
        </p:nvSpPr>
        <p:spPr>
          <a:xfrm>
            <a:off x="2309096" y="3683657"/>
            <a:ext cx="22749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Bagging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BFB50A-D922-2B25-376B-E256EF15BF26}"/>
              </a:ext>
            </a:extLst>
          </p:cNvPr>
          <p:cNvSpPr txBox="1"/>
          <p:nvPr/>
        </p:nvSpPr>
        <p:spPr>
          <a:xfrm>
            <a:off x="5137295" y="3683657"/>
            <a:ext cx="22749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Boosting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4BCC4C-94F1-4A10-6897-88F93F29D1D7}"/>
              </a:ext>
            </a:extLst>
          </p:cNvPr>
          <p:cNvSpPr txBox="1"/>
          <p:nvPr/>
        </p:nvSpPr>
        <p:spPr>
          <a:xfrm>
            <a:off x="4906544" y="4281818"/>
            <a:ext cx="27364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AdaBoost</a:t>
            </a:r>
          </a:p>
          <a:p>
            <a:pPr algn="ctr"/>
            <a:r>
              <a:rPr lang="en-US" sz="2800" dirty="0" err="1"/>
              <a:t>GradientBoost</a:t>
            </a:r>
            <a:endParaRPr lang="en-US" sz="2800" dirty="0"/>
          </a:p>
          <a:p>
            <a:pPr algn="ctr"/>
            <a:r>
              <a:rPr lang="en-US" sz="2800" dirty="0" err="1"/>
              <a:t>XGBoost</a:t>
            </a:r>
            <a:endParaRPr lang="en-US" sz="2800" dirty="0"/>
          </a:p>
          <a:p>
            <a:pPr algn="ctr"/>
            <a:r>
              <a:rPr lang="en-US" sz="2800" dirty="0" err="1"/>
              <a:t>CatBoost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C6C210-6454-32B2-D4E0-EB9885859AB1}"/>
              </a:ext>
            </a:extLst>
          </p:cNvPr>
          <p:cNvSpPr txBox="1"/>
          <p:nvPr/>
        </p:nvSpPr>
        <p:spPr>
          <a:xfrm>
            <a:off x="2217533" y="4463822"/>
            <a:ext cx="24580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Random</a:t>
            </a:r>
          </a:p>
          <a:p>
            <a:pPr algn="ctr"/>
            <a:r>
              <a:rPr lang="en-US" sz="2800" dirty="0"/>
              <a:t>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BD4120-6F38-0821-F511-A4A5F4821135}"/>
              </a:ext>
            </a:extLst>
          </p:cNvPr>
          <p:cNvSpPr txBox="1"/>
          <p:nvPr/>
        </p:nvSpPr>
        <p:spPr>
          <a:xfrm>
            <a:off x="7642984" y="3683656"/>
            <a:ext cx="22749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Stacking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01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E0D82E-C2ED-1331-9362-494226883264}"/>
              </a:ext>
            </a:extLst>
          </p:cNvPr>
          <p:cNvSpPr txBox="1"/>
          <p:nvPr/>
        </p:nvSpPr>
        <p:spPr>
          <a:xfrm>
            <a:off x="3197941" y="103893"/>
            <a:ext cx="55011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rgbClr val="FF0000"/>
                </a:solidFill>
                <a:effectLst/>
                <a:latin typeface="Google Sans"/>
              </a:rPr>
              <a:t>Ensemble Learning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B8E92-2E60-CCC9-7D6B-6EAD5E3FF70B}"/>
              </a:ext>
            </a:extLst>
          </p:cNvPr>
          <p:cNvSpPr txBox="1"/>
          <p:nvPr/>
        </p:nvSpPr>
        <p:spPr>
          <a:xfrm>
            <a:off x="4958530" y="674575"/>
            <a:ext cx="22749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Bagging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BBD1FC-4AE0-C9E9-3682-3B99B7DAB5C5}"/>
              </a:ext>
            </a:extLst>
          </p:cNvPr>
          <p:cNvSpPr txBox="1"/>
          <p:nvPr/>
        </p:nvSpPr>
        <p:spPr>
          <a:xfrm>
            <a:off x="206474" y="1226403"/>
            <a:ext cx="117692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Bagging (Bootstrap Aggregating) is a method that trains multiple models on different data samples and combines their predictions to improve accuracy and reduce variance.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FD6FAC-4E6B-D76A-FB9A-1130EAAFEE08}"/>
              </a:ext>
            </a:extLst>
          </p:cNvPr>
          <p:cNvSpPr/>
          <p:nvPr/>
        </p:nvSpPr>
        <p:spPr>
          <a:xfrm>
            <a:off x="5633880" y="2145309"/>
            <a:ext cx="100289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5B4F7E-2DD6-F313-33C2-D470D36D100F}"/>
              </a:ext>
            </a:extLst>
          </p:cNvPr>
          <p:cNvSpPr/>
          <p:nvPr/>
        </p:nvSpPr>
        <p:spPr>
          <a:xfrm>
            <a:off x="3950721" y="3573105"/>
            <a:ext cx="1002891" cy="830997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Model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94E9FD0-2BEE-4F31-A0AE-7417F8D600BE}"/>
              </a:ext>
            </a:extLst>
          </p:cNvPr>
          <p:cNvSpPr/>
          <p:nvPr/>
        </p:nvSpPr>
        <p:spPr>
          <a:xfrm>
            <a:off x="7228551" y="3573104"/>
            <a:ext cx="1002891" cy="830997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8833C58-BA7B-47E3-4EF5-8C553BC608FF}"/>
              </a:ext>
            </a:extLst>
          </p:cNvPr>
          <p:cNvSpPr/>
          <p:nvPr/>
        </p:nvSpPr>
        <p:spPr>
          <a:xfrm>
            <a:off x="5579800" y="3968770"/>
            <a:ext cx="1002891" cy="830997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Model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6FDE0D-29AA-B73A-B250-8A82E5F18B89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4758811" y="3059709"/>
            <a:ext cx="1376514" cy="513395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9861B1-C9ED-B1BB-EE90-DAE8E13F0937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6081246" y="3059709"/>
            <a:ext cx="54079" cy="909061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20A81C3-8A27-B224-24DD-7882A5A4895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6135325" y="3059709"/>
            <a:ext cx="1288024" cy="513395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EF37869F-1068-B8E7-4702-F82ECB768237}"/>
              </a:ext>
            </a:extLst>
          </p:cNvPr>
          <p:cNvSpPr/>
          <p:nvPr/>
        </p:nvSpPr>
        <p:spPr>
          <a:xfrm>
            <a:off x="3820446" y="4799767"/>
            <a:ext cx="1263439" cy="830997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7BC09D6-6BE6-8475-ED9B-0717D9AF6E1E}"/>
              </a:ext>
            </a:extLst>
          </p:cNvPr>
          <p:cNvSpPr/>
          <p:nvPr/>
        </p:nvSpPr>
        <p:spPr>
          <a:xfrm>
            <a:off x="5447064" y="5187731"/>
            <a:ext cx="1263439" cy="830997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34CA710-BD14-BD4E-D1AF-EBA3C846E89B}"/>
              </a:ext>
            </a:extLst>
          </p:cNvPr>
          <p:cNvSpPr/>
          <p:nvPr/>
        </p:nvSpPr>
        <p:spPr>
          <a:xfrm>
            <a:off x="7063862" y="4799766"/>
            <a:ext cx="1332268" cy="830997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Yes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A5754F-DFAA-1B1F-2FF5-B782D3EA6C33}"/>
              </a:ext>
            </a:extLst>
          </p:cNvPr>
          <p:cNvCxnSpPr>
            <a:stCxn id="8" idx="2"/>
          </p:cNvCxnSpPr>
          <p:nvPr/>
        </p:nvCxnSpPr>
        <p:spPr>
          <a:xfrm>
            <a:off x="4452167" y="4404102"/>
            <a:ext cx="1846" cy="395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F6CA752-80A5-70E8-1047-768AD55E0B53}"/>
              </a:ext>
            </a:extLst>
          </p:cNvPr>
          <p:cNvCxnSpPr/>
          <p:nvPr/>
        </p:nvCxnSpPr>
        <p:spPr>
          <a:xfrm>
            <a:off x="6095999" y="4795917"/>
            <a:ext cx="1846" cy="395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1F747A-8DB8-6034-B7B9-CCFF27366477}"/>
              </a:ext>
            </a:extLst>
          </p:cNvPr>
          <p:cNvCxnSpPr/>
          <p:nvPr/>
        </p:nvCxnSpPr>
        <p:spPr>
          <a:xfrm>
            <a:off x="7729996" y="4404101"/>
            <a:ext cx="1846" cy="395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C6F1ABF-C7CC-D69A-9357-EDA15E5D0DE3}"/>
              </a:ext>
            </a:extLst>
          </p:cNvPr>
          <p:cNvSpPr/>
          <p:nvPr/>
        </p:nvSpPr>
        <p:spPr>
          <a:xfrm>
            <a:off x="5424945" y="6302639"/>
            <a:ext cx="1332269" cy="513395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Yes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C98A0CD-9617-A5D0-C2BA-798BEBFB4D60}"/>
              </a:ext>
            </a:extLst>
          </p:cNvPr>
          <p:cNvCxnSpPr>
            <a:stCxn id="14" idx="4"/>
            <a:endCxn id="20" idx="1"/>
          </p:cNvCxnSpPr>
          <p:nvPr/>
        </p:nvCxnSpPr>
        <p:spPr>
          <a:xfrm>
            <a:off x="4452166" y="5630764"/>
            <a:ext cx="1167885" cy="74706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F1303DA-30E2-2887-AD43-F3E85EC9F285}"/>
              </a:ext>
            </a:extLst>
          </p:cNvPr>
          <p:cNvCxnSpPr>
            <a:stCxn id="16" idx="4"/>
            <a:endCxn id="20" idx="7"/>
          </p:cNvCxnSpPr>
          <p:nvPr/>
        </p:nvCxnSpPr>
        <p:spPr>
          <a:xfrm flipH="1">
            <a:off x="6562108" y="5630763"/>
            <a:ext cx="1167888" cy="747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A8E8854-9E97-6813-CD74-324721BB1C5A}"/>
              </a:ext>
            </a:extLst>
          </p:cNvPr>
          <p:cNvCxnSpPr>
            <a:stCxn id="15" idx="4"/>
            <a:endCxn id="20" idx="0"/>
          </p:cNvCxnSpPr>
          <p:nvPr/>
        </p:nvCxnSpPr>
        <p:spPr>
          <a:xfrm>
            <a:off x="6078784" y="6018728"/>
            <a:ext cx="12296" cy="283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5D454D6-655D-8FDC-2124-E1201995BDA0}"/>
              </a:ext>
            </a:extLst>
          </p:cNvPr>
          <p:cNvSpPr/>
          <p:nvPr/>
        </p:nvSpPr>
        <p:spPr>
          <a:xfrm>
            <a:off x="3930437" y="2961282"/>
            <a:ext cx="833897" cy="53977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NB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79B6AE1-69F6-55BA-29BF-6F7C2891ABB4}"/>
              </a:ext>
            </a:extLst>
          </p:cNvPr>
          <p:cNvSpPr/>
          <p:nvPr/>
        </p:nvSpPr>
        <p:spPr>
          <a:xfrm>
            <a:off x="7407992" y="2937335"/>
            <a:ext cx="833897" cy="53977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7A0EEDA-3BD2-5E54-EBED-6837B8817BFF}"/>
              </a:ext>
            </a:extLst>
          </p:cNvPr>
          <p:cNvSpPr/>
          <p:nvPr/>
        </p:nvSpPr>
        <p:spPr>
          <a:xfrm>
            <a:off x="5662756" y="3327252"/>
            <a:ext cx="833897" cy="53977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RF</a:t>
            </a:r>
          </a:p>
        </p:txBody>
      </p:sp>
    </p:spTree>
    <p:extLst>
      <p:ext uri="{BB962C8B-B14F-4D97-AF65-F5344CB8AC3E}">
        <p14:creationId xmlns:p14="http://schemas.microsoft.com/office/powerpoint/2010/main" val="2025195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15E022-20F7-143B-CC51-1026F98391EF}"/>
              </a:ext>
            </a:extLst>
          </p:cNvPr>
          <p:cNvSpPr txBox="1"/>
          <p:nvPr/>
        </p:nvSpPr>
        <p:spPr>
          <a:xfrm>
            <a:off x="3197941" y="103893"/>
            <a:ext cx="55011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rgbClr val="FF0000"/>
                </a:solidFill>
                <a:effectLst/>
                <a:latin typeface="Google Sans"/>
              </a:rPr>
              <a:t>Ensemble Learning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D444A-B21D-C177-4611-D5921D547A64}"/>
              </a:ext>
            </a:extLst>
          </p:cNvPr>
          <p:cNvSpPr txBox="1"/>
          <p:nvPr/>
        </p:nvSpPr>
        <p:spPr>
          <a:xfrm>
            <a:off x="4958530" y="743693"/>
            <a:ext cx="22749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92D050"/>
                </a:solidFill>
              </a:rPr>
              <a:t>Boosting</a:t>
            </a:r>
            <a:endParaRPr lang="en-US" sz="2400" dirty="0">
              <a:solidFill>
                <a:srgbClr val="92D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F49D78-82A7-975F-0DA3-A516195B4850}"/>
              </a:ext>
            </a:extLst>
          </p:cNvPr>
          <p:cNvSpPr txBox="1"/>
          <p:nvPr/>
        </p:nvSpPr>
        <p:spPr>
          <a:xfrm>
            <a:off x="162233" y="1383494"/>
            <a:ext cx="116069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Boosting is a technique that trains models sequentially, each focusing on correcting the errors of the previous one. The final prediction is a weighted combination of all models, improving accuracy by reducing bias.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B87AC1-F956-5BEF-C4B6-B820C0EEA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470" y="2806790"/>
            <a:ext cx="7535058" cy="365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25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F21011-8B8F-CF0D-BDB7-45FB4F7D3B86}"/>
              </a:ext>
            </a:extLst>
          </p:cNvPr>
          <p:cNvSpPr txBox="1"/>
          <p:nvPr/>
        </p:nvSpPr>
        <p:spPr>
          <a:xfrm>
            <a:off x="3197941" y="103893"/>
            <a:ext cx="55011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rgbClr val="FF0000"/>
                </a:solidFill>
                <a:effectLst/>
                <a:latin typeface="Google Sans"/>
              </a:rPr>
              <a:t>Ensemble Learning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777258-D1F5-07F3-9F5A-12D2BEB20844}"/>
              </a:ext>
            </a:extLst>
          </p:cNvPr>
          <p:cNvSpPr txBox="1"/>
          <p:nvPr/>
        </p:nvSpPr>
        <p:spPr>
          <a:xfrm>
            <a:off x="4958530" y="674575"/>
            <a:ext cx="22749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92D050"/>
                </a:solidFill>
              </a:rPr>
              <a:t>Stacking</a:t>
            </a:r>
            <a:endParaRPr lang="en-US" sz="2400" dirty="0">
              <a:solidFill>
                <a:srgbClr val="92D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0C2A4F-0EFB-2D93-E06A-A1ECD82C06EE}"/>
              </a:ext>
            </a:extLst>
          </p:cNvPr>
          <p:cNvSpPr txBox="1"/>
          <p:nvPr/>
        </p:nvSpPr>
        <p:spPr>
          <a:xfrm>
            <a:off x="162233" y="1383494"/>
            <a:ext cx="116069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Stacking is an ensemble technique that combines predictions from multiple models (base models) using a new model (meta-model) to make the final prediction. The meta-model learns how to best combine the base models' outputs to improve overall performance.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620027-F52F-F199-A3A9-6DD1DBC5D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54" y="3219411"/>
            <a:ext cx="9557690" cy="296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024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0DBB5E-62E7-7E3E-8F66-AE373D3F2789}"/>
              </a:ext>
            </a:extLst>
          </p:cNvPr>
          <p:cNvSpPr txBox="1"/>
          <p:nvPr/>
        </p:nvSpPr>
        <p:spPr>
          <a:xfrm>
            <a:off x="2953062" y="134911"/>
            <a:ext cx="6670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Hyperparameter Optimization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0D3B2C-05DB-D153-CD74-2303841EA4E8}"/>
              </a:ext>
            </a:extLst>
          </p:cNvPr>
          <p:cNvSpPr txBox="1"/>
          <p:nvPr/>
        </p:nvSpPr>
        <p:spPr>
          <a:xfrm>
            <a:off x="609600" y="847025"/>
            <a:ext cx="10972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Hyperparameter optimization, or hyperparameter tuning, is the process of identifying the optimal set of hyperparameters for a machine learning model to enhance its performance on a specific task. Unlike parameters learned from the data, hyperparameters are predefined settings that influence the learning algorithm's behavior before the training process begins.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9D4513-5134-AC0F-4FCB-695B94459C37}"/>
              </a:ext>
            </a:extLst>
          </p:cNvPr>
          <p:cNvSpPr txBox="1"/>
          <p:nvPr/>
        </p:nvSpPr>
        <p:spPr>
          <a:xfrm>
            <a:off x="609600" y="3344562"/>
            <a:ext cx="1112769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Grid Search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000" dirty="0"/>
              <a:t>Grid search involves specifying a range of possible hyperparameter values and evaluating the model's performance across all possible combinations within this range. While it can be computationally intensive, grid search thoroughly explores the hyperparameter space.</a:t>
            </a:r>
          </a:p>
          <a:p>
            <a:endParaRPr lang="en-US" sz="2000" dirty="0"/>
          </a:p>
          <a:p>
            <a:r>
              <a:rPr lang="en-US" sz="2400" b="1" dirty="0">
                <a:solidFill>
                  <a:srgbClr val="FF0000"/>
                </a:solidFill>
              </a:rPr>
              <a:t>Random Search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000" dirty="0"/>
              <a:t>Random search involves sampling hyperparameter values randomly from predefined ranges. It is computationally more efficient than grid search and often yields comparable or even superior results.</a:t>
            </a:r>
          </a:p>
        </p:txBody>
      </p:sp>
    </p:spTree>
    <p:extLst>
      <p:ext uri="{BB962C8B-B14F-4D97-AF65-F5344CB8AC3E}">
        <p14:creationId xmlns:p14="http://schemas.microsoft.com/office/powerpoint/2010/main" val="2945126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E8F8DF-CD05-DFAA-90F7-7A2E5E6448D6}"/>
              </a:ext>
            </a:extLst>
          </p:cNvPr>
          <p:cNvSpPr txBox="1"/>
          <p:nvPr/>
        </p:nvSpPr>
        <p:spPr>
          <a:xfrm>
            <a:off x="2026170" y="2233535"/>
            <a:ext cx="813965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1197527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124</TotalTime>
  <Words>296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Bookman Old Style</vt:lpstr>
      <vt:lpstr>Google Sans</vt:lpstr>
      <vt:lpstr>Rockwell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Sajib Saha</dc:creator>
  <cp:lastModifiedBy>Sajib Saha</cp:lastModifiedBy>
  <cp:revision>6</cp:revision>
  <dcterms:created xsi:type="dcterms:W3CDTF">2024-08-20T15:49:00Z</dcterms:created>
  <dcterms:modified xsi:type="dcterms:W3CDTF">2024-08-21T13:30:40Z</dcterms:modified>
</cp:coreProperties>
</file>