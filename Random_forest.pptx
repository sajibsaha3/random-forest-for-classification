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3" r:id="rId7"/>
    <p:sldId id="261" r:id="rId8"/>
    <p:sldId id="266" r:id="rId9"/>
    <p:sldId id="267" r:id="rId10"/>
    <p:sldId id="264" r:id="rId11"/>
    <p:sldId id="262"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315F-F7D0-3EA9-2C9C-078453A0D6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4913F9-323E-8698-7382-27DD82BC0B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39E4AA-844F-290D-A84F-41BAE1AAD426}"/>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F793797B-0F72-89EC-A911-A264310F8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C30E6-366D-83DC-967E-58F5CE4EB11C}"/>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2002435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D88B-978F-8D89-85C1-31B492CF0C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8E0259-4017-6AFC-DA86-78AD17F5DC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8952C-69EF-C8A8-D342-75D60AC94A66}"/>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B09BE964-D220-5EE4-9326-8F28585EC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C34A7-E8D6-A389-5436-10134BF69ECB}"/>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484626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6D2D-8CB6-B58E-8093-7C765158F7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FA8859-9597-FD52-6273-D7B82DC786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A7E1F0-0943-CDF5-D1B5-6939979E69E4}"/>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E5636E10-2097-5F0E-E189-6647135DF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395917-B5BE-E722-2710-5D6351E21C88}"/>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1700410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E870-629A-D794-DB80-785C80D75F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4E949E-2A9D-4DAD-1151-42E4461827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996FC8-FB46-930E-695D-2746117709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07F4FB-92D7-B750-E91F-A55BA4EB0728}"/>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6" name="Footer Placeholder 5">
            <a:extLst>
              <a:ext uri="{FF2B5EF4-FFF2-40B4-BE49-F238E27FC236}">
                <a16:creationId xmlns:a16="http://schemas.microsoft.com/office/drawing/2014/main" id="{81F05A24-CE2F-D65A-2C17-A9654971C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FBC96F-492C-2671-B07B-A93353B6057C}"/>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102607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A7A2-C6E7-9779-41D7-F594D948DB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2C0E3C-0BF5-9578-CFDB-FCA09E213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9B3AAE-AD3C-70E4-7337-36777B0BF4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DF8B45-85D0-2B2C-0ACE-BCA2EE8EEF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AC1965-1A3D-8453-7059-3D4453C1A3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F51794-794F-0F05-38B3-C848F6F44331}"/>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8" name="Footer Placeholder 7">
            <a:extLst>
              <a:ext uri="{FF2B5EF4-FFF2-40B4-BE49-F238E27FC236}">
                <a16:creationId xmlns:a16="http://schemas.microsoft.com/office/drawing/2014/main" id="{862F7987-9CDF-95C2-8316-00D4F05ECD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ADF9CB-7908-66AE-7408-86BC0F3D645C}"/>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1656323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EE66-1F60-4A57-BB18-F7CD8931E2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1AE6B-0A84-5DC7-A5F4-484078767AA7}"/>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4" name="Footer Placeholder 3">
            <a:extLst>
              <a:ext uri="{FF2B5EF4-FFF2-40B4-BE49-F238E27FC236}">
                <a16:creationId xmlns:a16="http://schemas.microsoft.com/office/drawing/2014/main" id="{26A1B321-498F-713D-D975-2E735C4DDF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2585CC-093B-FE23-9871-545AFCFD7898}"/>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3369153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DA73FF-3B15-0CE4-2F46-C007337D5236}"/>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3" name="Footer Placeholder 2">
            <a:extLst>
              <a:ext uri="{FF2B5EF4-FFF2-40B4-BE49-F238E27FC236}">
                <a16:creationId xmlns:a16="http://schemas.microsoft.com/office/drawing/2014/main" id="{483A71CF-B079-5833-5618-621A011CCA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04CED5-B6D2-80B0-49C3-F2045F352F7C}"/>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652799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1DDE-1F76-1815-DE07-C3ED282A78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499286-4789-E02B-ADAB-ECDAF330D5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AE7B7F-140D-F693-BC2C-51CAA59D9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09F98-62F2-3C39-8FB3-90886FCC367A}"/>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6" name="Footer Placeholder 5">
            <a:extLst>
              <a:ext uri="{FF2B5EF4-FFF2-40B4-BE49-F238E27FC236}">
                <a16:creationId xmlns:a16="http://schemas.microsoft.com/office/drawing/2014/main" id="{6C2A2E8A-794B-628A-9FBA-BD607A85E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8348C-1274-5288-809F-A4E5FA5374D5}"/>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1456048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8F38-26CC-64C5-2FC9-7DFFEE729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307D88-DD98-A46D-F2F6-915D544B35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D3194-DE1E-8A75-33F2-3D6C11750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DC42BF-7062-A26B-3199-6E1AA231E362}"/>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6" name="Footer Placeholder 5">
            <a:extLst>
              <a:ext uri="{FF2B5EF4-FFF2-40B4-BE49-F238E27FC236}">
                <a16:creationId xmlns:a16="http://schemas.microsoft.com/office/drawing/2014/main" id="{DFB8C09F-42A5-98F6-8BB2-34A666D34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AA848D-D740-828B-A643-2A0E60C7FE16}"/>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450276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36D-1CE0-2F48-525A-019EE260FA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B1DFB-F451-4402-2EA7-4543A1410D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99FABF-2CA8-C053-9365-C46EAFFC562D}"/>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E3858EBA-81A4-82DA-A5E4-5CDB54AF3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BCC8F-B40A-3041-5169-4E915839559E}"/>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4119775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90C0CD-6A54-85CC-81FB-A3AEBC04E3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05281-AC2A-CB35-72AB-FE3A9CF71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3FB24-9B35-DCD6-A3F8-64A1FA20C5A6}"/>
              </a:ext>
            </a:extLst>
          </p:cNvPr>
          <p:cNvSpPr>
            <a:spLocks noGrp="1"/>
          </p:cNvSpPr>
          <p:nvPr>
            <p:ph type="dt" sz="half" idx="10"/>
          </p:nvPr>
        </p:nvSpPr>
        <p:spPr/>
        <p:txBody>
          <a:body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EEF152B6-6F38-14D7-9B3A-658E9152B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CBB9B0-EEB0-5D3B-C05A-4FA99187AD0B}"/>
              </a:ext>
            </a:extLst>
          </p:cNvPr>
          <p:cNvSpPr>
            <a:spLocks noGrp="1"/>
          </p:cNvSpPr>
          <p:nvPr>
            <p:ph type="sldNum" sz="quarter" idx="12"/>
          </p:nvPr>
        </p:nvSpPr>
        <p:spPr/>
        <p:txBody>
          <a:bodyPr/>
          <a:lstStyle/>
          <a:p>
            <a:fld id="{86D018C4-3E7F-4676-8138-516D63ABF83F}" type="slidenum">
              <a:rPr lang="en-US" smtClean="0"/>
              <a:t>‹#›</a:t>
            </a:fld>
            <a:endParaRPr lang="en-US"/>
          </a:p>
        </p:txBody>
      </p:sp>
    </p:spTree>
    <p:extLst>
      <p:ext uri="{BB962C8B-B14F-4D97-AF65-F5344CB8AC3E}">
        <p14:creationId xmlns:p14="http://schemas.microsoft.com/office/powerpoint/2010/main" val="252537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7AC314-2405-C151-DDB1-92B5967EBF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787EC5-A677-16E7-98FF-94D836075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9912B-E2E6-94B7-3553-86CBD450BE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9314A-8948-4B85-A053-AA240B8965B9}" type="datetimeFigureOut">
              <a:rPr lang="en-US" smtClean="0"/>
              <a:t>2/1/2026</a:t>
            </a:fld>
            <a:endParaRPr lang="en-US"/>
          </a:p>
        </p:txBody>
      </p:sp>
      <p:sp>
        <p:nvSpPr>
          <p:cNvPr id="5" name="Footer Placeholder 4">
            <a:extLst>
              <a:ext uri="{FF2B5EF4-FFF2-40B4-BE49-F238E27FC236}">
                <a16:creationId xmlns:a16="http://schemas.microsoft.com/office/drawing/2014/main" id="{D3ECEEA4-3B2A-6629-2E7E-3C103E2434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D9FF02-C1FC-93FE-B10E-0DB38B4478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018C4-3E7F-4676-8138-516D63ABF83F}" type="slidenum">
              <a:rPr lang="en-US" smtClean="0"/>
              <a:t>‹#›</a:t>
            </a:fld>
            <a:endParaRPr lang="en-US"/>
          </a:p>
        </p:txBody>
      </p:sp>
    </p:spTree>
    <p:extLst>
      <p:ext uri="{BB962C8B-B14F-4D97-AF65-F5344CB8AC3E}">
        <p14:creationId xmlns:p14="http://schemas.microsoft.com/office/powerpoint/2010/main" val="268741742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F34432-505D-8A53-6E34-B6E10C5740FC}"/>
              </a:ext>
            </a:extLst>
          </p:cNvPr>
          <p:cNvSpPr txBox="1"/>
          <p:nvPr/>
        </p:nvSpPr>
        <p:spPr>
          <a:xfrm>
            <a:off x="2563318" y="2875002"/>
            <a:ext cx="7065364" cy="1107996"/>
          </a:xfrm>
          <a:prstGeom prst="rect">
            <a:avLst/>
          </a:prstGeom>
          <a:ln>
            <a:headEnd type="none" w="med" len="med"/>
            <a:tailEnd type="none" w="med" len="med"/>
          </a:ln>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sz="6600" b="1" dirty="0">
                <a:solidFill>
                  <a:srgbClr val="FF0000"/>
                </a:solidFill>
              </a:rPr>
              <a:t>Random Forest</a:t>
            </a:r>
          </a:p>
        </p:txBody>
      </p:sp>
    </p:spTree>
    <p:extLst>
      <p:ext uri="{BB962C8B-B14F-4D97-AF65-F5344CB8AC3E}">
        <p14:creationId xmlns:p14="http://schemas.microsoft.com/office/powerpoint/2010/main" val="2411487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FEE8DE-5D51-4FB1-9E58-41BCEF2130C1}"/>
              </a:ext>
            </a:extLst>
          </p:cNvPr>
          <p:cNvSpPr txBox="1"/>
          <p:nvPr/>
        </p:nvSpPr>
        <p:spPr>
          <a:xfrm>
            <a:off x="3472721" y="284813"/>
            <a:ext cx="5246558" cy="646331"/>
          </a:xfrm>
          <a:prstGeom prst="rect">
            <a:avLst/>
          </a:prstGeom>
          <a:noFill/>
        </p:spPr>
        <p:txBody>
          <a:bodyPr wrap="square" rtlCol="0">
            <a:spAutoFit/>
          </a:bodyPr>
          <a:lstStyle/>
          <a:p>
            <a:pPr algn="ctr"/>
            <a:r>
              <a:rPr lang="en-US" sz="3600" b="1" dirty="0">
                <a:solidFill>
                  <a:srgbClr val="FF0000"/>
                </a:solidFill>
              </a:rPr>
              <a:t>Learning Materials </a:t>
            </a:r>
          </a:p>
        </p:txBody>
      </p:sp>
      <p:sp>
        <p:nvSpPr>
          <p:cNvPr id="5" name="TextBox 4">
            <a:extLst>
              <a:ext uri="{FF2B5EF4-FFF2-40B4-BE49-F238E27FC236}">
                <a16:creationId xmlns:a16="http://schemas.microsoft.com/office/drawing/2014/main" id="{A2DACC29-AFBC-A6A5-09F7-9A8C88716B97}"/>
              </a:ext>
            </a:extLst>
          </p:cNvPr>
          <p:cNvSpPr txBox="1"/>
          <p:nvPr/>
        </p:nvSpPr>
        <p:spPr>
          <a:xfrm>
            <a:off x="4062336" y="2090172"/>
            <a:ext cx="5691264" cy="2677656"/>
          </a:xfrm>
          <a:prstGeom prst="rect">
            <a:avLst/>
          </a:prstGeom>
          <a:noFill/>
        </p:spPr>
        <p:txBody>
          <a:bodyPr wrap="square" rtlCol="0">
            <a:spAutoFit/>
          </a:bodyPr>
          <a:lstStyle/>
          <a:p>
            <a:pPr marL="342900" indent="-342900" algn="just">
              <a:buAutoNum type="arabicPeriod"/>
            </a:pPr>
            <a:r>
              <a:rPr lang="en-US" sz="2400" dirty="0"/>
              <a:t>Random Forest</a:t>
            </a:r>
          </a:p>
          <a:p>
            <a:pPr marL="342900" indent="-342900" algn="just">
              <a:buAutoNum type="arabicPeriod"/>
            </a:pPr>
            <a:r>
              <a:rPr lang="en-US" sz="2400" dirty="0"/>
              <a:t>Decision Tree Pruning</a:t>
            </a:r>
          </a:p>
          <a:p>
            <a:pPr marL="342900" indent="-342900" algn="just">
              <a:buAutoNum type="arabicPeriod"/>
            </a:pPr>
            <a:r>
              <a:rPr lang="en-US" sz="2400" dirty="0"/>
              <a:t>Pre-Pruning in Decision Tree</a:t>
            </a:r>
          </a:p>
          <a:p>
            <a:pPr marL="342900" indent="-342900" algn="just">
              <a:buAutoNum type="arabicPeriod"/>
            </a:pPr>
            <a:r>
              <a:rPr lang="en-US" sz="2400" dirty="0"/>
              <a:t>Post-Pruning in Decision Tree</a:t>
            </a:r>
          </a:p>
          <a:p>
            <a:pPr marL="342900" indent="-342900" algn="just">
              <a:buAutoNum type="arabicPeriod"/>
            </a:pPr>
            <a:r>
              <a:rPr lang="en-US" sz="2400" dirty="0"/>
              <a:t>Hyper Parameter Tuning using</a:t>
            </a:r>
          </a:p>
          <a:p>
            <a:pPr marL="800100" lvl="1" indent="-342900" algn="just">
              <a:buAutoNum type="arabicPeriod"/>
            </a:pPr>
            <a:r>
              <a:rPr lang="en-US" sz="2400" dirty="0"/>
              <a:t>Randomized Search CV</a:t>
            </a:r>
          </a:p>
          <a:p>
            <a:pPr marL="800100" lvl="1" indent="-342900" algn="just">
              <a:buAutoNum type="arabicPeriod"/>
            </a:pPr>
            <a:r>
              <a:rPr lang="en-US" sz="2400" dirty="0"/>
              <a:t>Grid Search CV</a:t>
            </a:r>
          </a:p>
        </p:txBody>
      </p:sp>
    </p:spTree>
    <p:extLst>
      <p:ext uri="{BB962C8B-B14F-4D97-AF65-F5344CB8AC3E}">
        <p14:creationId xmlns:p14="http://schemas.microsoft.com/office/powerpoint/2010/main" val="573042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06DCF2-9686-76DA-8FFD-09A9C0CAD5FB}"/>
              </a:ext>
            </a:extLst>
          </p:cNvPr>
          <p:cNvSpPr txBox="1"/>
          <p:nvPr/>
        </p:nvSpPr>
        <p:spPr>
          <a:xfrm>
            <a:off x="3049250" y="250048"/>
            <a:ext cx="6093500" cy="769441"/>
          </a:xfrm>
          <a:prstGeom prst="rect">
            <a:avLst/>
          </a:prstGeom>
          <a:noFill/>
        </p:spPr>
        <p:txBody>
          <a:bodyPr wrap="square">
            <a:spAutoFit/>
          </a:bodyPr>
          <a:lstStyle/>
          <a:p>
            <a:pPr algn="ctr"/>
            <a:r>
              <a:rPr lang="en-US" sz="4400" b="1" dirty="0">
                <a:solidFill>
                  <a:srgbClr val="FF0000"/>
                </a:solidFill>
              </a:rPr>
              <a:t>Random Forest</a:t>
            </a:r>
          </a:p>
        </p:txBody>
      </p:sp>
      <p:sp>
        <p:nvSpPr>
          <p:cNvPr id="7" name="TextBox 6">
            <a:extLst>
              <a:ext uri="{FF2B5EF4-FFF2-40B4-BE49-F238E27FC236}">
                <a16:creationId xmlns:a16="http://schemas.microsoft.com/office/drawing/2014/main" id="{1291AAE9-4068-2D3E-342D-72CF7352ED6D}"/>
              </a:ext>
            </a:extLst>
          </p:cNvPr>
          <p:cNvSpPr txBox="1"/>
          <p:nvPr/>
        </p:nvSpPr>
        <p:spPr>
          <a:xfrm>
            <a:off x="669561" y="1152650"/>
            <a:ext cx="10852878" cy="2308324"/>
          </a:xfrm>
          <a:prstGeom prst="rect">
            <a:avLst/>
          </a:prstGeom>
          <a:noFill/>
        </p:spPr>
        <p:txBody>
          <a:bodyPr wrap="square">
            <a:spAutoFit/>
          </a:bodyPr>
          <a:lstStyle/>
          <a:p>
            <a:pPr algn="just"/>
            <a:r>
              <a:rPr lang="en-US" sz="2400" dirty="0">
                <a:latin typeface="Calibri" panose="020F0502020204030204" pitchFamily="34" charset="0"/>
                <a:cs typeface="Calibri" panose="020F0502020204030204" pitchFamily="34" charset="0"/>
              </a:rPr>
              <a:t>Random Forest is an ensemble machine learning algorithm that combines multiple decision trees to improve accuracy and prevent overfitting. Each tree in the forest is trained on a random subset of the data, and its predictions are averaged (for regression) or determined by majority vote (for classification). This approach makes Random Forest robust and versatile, often performing well even with complex datasets.</a:t>
            </a:r>
          </a:p>
        </p:txBody>
      </p:sp>
      <p:sp>
        <p:nvSpPr>
          <p:cNvPr id="16" name="Rectangle: Rounded Corners 15">
            <a:extLst>
              <a:ext uri="{FF2B5EF4-FFF2-40B4-BE49-F238E27FC236}">
                <a16:creationId xmlns:a16="http://schemas.microsoft.com/office/drawing/2014/main" id="{7F3F1F8C-9AFF-48A6-62EE-4D1C08FB6E33}"/>
              </a:ext>
            </a:extLst>
          </p:cNvPr>
          <p:cNvSpPr/>
          <p:nvPr/>
        </p:nvSpPr>
        <p:spPr>
          <a:xfrm>
            <a:off x="1144875" y="3472222"/>
            <a:ext cx="2008682" cy="846783"/>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2400" b="1" dirty="0">
                <a:solidFill>
                  <a:srgbClr val="FF0000"/>
                </a:solidFill>
              </a:rPr>
              <a:t>Training Set</a:t>
            </a:r>
          </a:p>
        </p:txBody>
      </p:sp>
      <p:sp>
        <p:nvSpPr>
          <p:cNvPr id="17" name="Rectangle: Rounded Corners 16">
            <a:extLst>
              <a:ext uri="{FF2B5EF4-FFF2-40B4-BE49-F238E27FC236}">
                <a16:creationId xmlns:a16="http://schemas.microsoft.com/office/drawing/2014/main" id="{EBE8FD27-83B4-9FA7-A561-4B373438BFFB}"/>
              </a:ext>
            </a:extLst>
          </p:cNvPr>
          <p:cNvSpPr/>
          <p:nvPr/>
        </p:nvSpPr>
        <p:spPr>
          <a:xfrm>
            <a:off x="1154245" y="5104111"/>
            <a:ext cx="2008682" cy="846783"/>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2400" b="1" dirty="0">
                <a:solidFill>
                  <a:srgbClr val="FF0000"/>
                </a:solidFill>
              </a:rPr>
              <a:t>Test Set</a:t>
            </a:r>
          </a:p>
        </p:txBody>
      </p:sp>
      <p:sp>
        <p:nvSpPr>
          <p:cNvPr id="18" name="Rectangle 17">
            <a:extLst>
              <a:ext uri="{FF2B5EF4-FFF2-40B4-BE49-F238E27FC236}">
                <a16:creationId xmlns:a16="http://schemas.microsoft.com/office/drawing/2014/main" id="{8EC006CE-29AE-F160-43C3-C601220971C2}"/>
              </a:ext>
            </a:extLst>
          </p:cNvPr>
          <p:cNvSpPr/>
          <p:nvPr/>
        </p:nvSpPr>
        <p:spPr>
          <a:xfrm>
            <a:off x="4032354" y="3429000"/>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Training Sample</a:t>
            </a:r>
          </a:p>
        </p:txBody>
      </p:sp>
      <p:sp>
        <p:nvSpPr>
          <p:cNvPr id="19" name="Rectangle 18">
            <a:extLst>
              <a:ext uri="{FF2B5EF4-FFF2-40B4-BE49-F238E27FC236}">
                <a16:creationId xmlns:a16="http://schemas.microsoft.com/office/drawing/2014/main" id="{7186D63F-E57A-4970-50E6-CB4C28E28452}"/>
              </a:ext>
            </a:extLst>
          </p:cNvPr>
          <p:cNvSpPr/>
          <p:nvPr/>
        </p:nvSpPr>
        <p:spPr>
          <a:xfrm>
            <a:off x="5813685" y="3438530"/>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Training Sample</a:t>
            </a:r>
          </a:p>
        </p:txBody>
      </p:sp>
      <p:sp>
        <p:nvSpPr>
          <p:cNvPr id="20" name="Rectangle 19">
            <a:extLst>
              <a:ext uri="{FF2B5EF4-FFF2-40B4-BE49-F238E27FC236}">
                <a16:creationId xmlns:a16="http://schemas.microsoft.com/office/drawing/2014/main" id="{6DFEA08A-D080-740F-0FC4-844AB0EFB07E}"/>
              </a:ext>
            </a:extLst>
          </p:cNvPr>
          <p:cNvSpPr/>
          <p:nvPr/>
        </p:nvSpPr>
        <p:spPr>
          <a:xfrm>
            <a:off x="8668062" y="3429000"/>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Training Sample</a:t>
            </a:r>
          </a:p>
        </p:txBody>
      </p:sp>
      <p:sp>
        <p:nvSpPr>
          <p:cNvPr id="21" name="Rectangle 20">
            <a:extLst>
              <a:ext uri="{FF2B5EF4-FFF2-40B4-BE49-F238E27FC236}">
                <a16:creationId xmlns:a16="http://schemas.microsoft.com/office/drawing/2014/main" id="{8A497E5E-CD82-CF93-97A3-CF008C7D6011}"/>
              </a:ext>
            </a:extLst>
          </p:cNvPr>
          <p:cNvSpPr/>
          <p:nvPr/>
        </p:nvSpPr>
        <p:spPr>
          <a:xfrm>
            <a:off x="4032354" y="4551188"/>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Decision Tree 1</a:t>
            </a:r>
          </a:p>
        </p:txBody>
      </p:sp>
      <p:sp>
        <p:nvSpPr>
          <p:cNvPr id="22" name="Rectangle 21">
            <a:extLst>
              <a:ext uri="{FF2B5EF4-FFF2-40B4-BE49-F238E27FC236}">
                <a16:creationId xmlns:a16="http://schemas.microsoft.com/office/drawing/2014/main" id="{C8A42C93-A007-3584-8C8F-542D259ABFAF}"/>
              </a:ext>
            </a:extLst>
          </p:cNvPr>
          <p:cNvSpPr/>
          <p:nvPr/>
        </p:nvSpPr>
        <p:spPr>
          <a:xfrm>
            <a:off x="5813685" y="4560718"/>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Decision Tree 2</a:t>
            </a:r>
          </a:p>
        </p:txBody>
      </p:sp>
      <p:sp>
        <p:nvSpPr>
          <p:cNvPr id="23" name="Rectangle 22">
            <a:extLst>
              <a:ext uri="{FF2B5EF4-FFF2-40B4-BE49-F238E27FC236}">
                <a16:creationId xmlns:a16="http://schemas.microsoft.com/office/drawing/2014/main" id="{382D7F37-3F4C-8615-8B79-73386D359FC5}"/>
              </a:ext>
            </a:extLst>
          </p:cNvPr>
          <p:cNvSpPr/>
          <p:nvPr/>
        </p:nvSpPr>
        <p:spPr>
          <a:xfrm>
            <a:off x="8668062" y="4551188"/>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Decision Tree 3</a:t>
            </a:r>
          </a:p>
        </p:txBody>
      </p:sp>
      <p:cxnSp>
        <p:nvCxnSpPr>
          <p:cNvPr id="25" name="Straight Connector 24">
            <a:extLst>
              <a:ext uri="{FF2B5EF4-FFF2-40B4-BE49-F238E27FC236}">
                <a16:creationId xmlns:a16="http://schemas.microsoft.com/office/drawing/2014/main" id="{F4F11B84-E8A9-3BE2-04A5-142168A5F01D}"/>
              </a:ext>
            </a:extLst>
          </p:cNvPr>
          <p:cNvCxnSpPr>
            <a:cxnSpLocks/>
          </p:cNvCxnSpPr>
          <p:nvPr/>
        </p:nvCxnSpPr>
        <p:spPr>
          <a:xfrm flipV="1">
            <a:off x="7165299" y="3700697"/>
            <a:ext cx="1427813" cy="953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89ED2697-85E6-033C-21F3-D233B81B2CD7}"/>
              </a:ext>
            </a:extLst>
          </p:cNvPr>
          <p:cNvCxnSpPr>
            <a:cxnSpLocks/>
          </p:cNvCxnSpPr>
          <p:nvPr/>
        </p:nvCxnSpPr>
        <p:spPr>
          <a:xfrm flipV="1">
            <a:off x="7240249" y="4827649"/>
            <a:ext cx="1427813" cy="953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2F3FA3A7-7FC2-6FE1-BAB7-FECC0F050B17}"/>
              </a:ext>
            </a:extLst>
          </p:cNvPr>
          <p:cNvCxnSpPr>
            <a:cxnSpLocks/>
          </p:cNvCxnSpPr>
          <p:nvPr/>
        </p:nvCxnSpPr>
        <p:spPr>
          <a:xfrm flipV="1">
            <a:off x="10002186" y="3700696"/>
            <a:ext cx="47593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779D190-CF77-A371-617E-92972E206A78}"/>
              </a:ext>
            </a:extLst>
          </p:cNvPr>
          <p:cNvSpPr txBox="1"/>
          <p:nvPr/>
        </p:nvSpPr>
        <p:spPr>
          <a:xfrm>
            <a:off x="10568066" y="3341054"/>
            <a:ext cx="1274164" cy="707886"/>
          </a:xfrm>
          <a:prstGeom prst="rect">
            <a:avLst/>
          </a:prstGeom>
          <a:noFill/>
        </p:spPr>
        <p:txBody>
          <a:bodyPr wrap="square" rtlCol="0">
            <a:spAutoFit/>
          </a:bodyPr>
          <a:lstStyle/>
          <a:p>
            <a:pPr algn="ctr"/>
            <a:r>
              <a:rPr lang="en-US" sz="2000" b="1" dirty="0"/>
              <a:t>Data sample</a:t>
            </a:r>
          </a:p>
        </p:txBody>
      </p:sp>
      <p:sp>
        <p:nvSpPr>
          <p:cNvPr id="30" name="TextBox 29">
            <a:extLst>
              <a:ext uri="{FF2B5EF4-FFF2-40B4-BE49-F238E27FC236}">
                <a16:creationId xmlns:a16="http://schemas.microsoft.com/office/drawing/2014/main" id="{A51597F2-F261-82A3-B717-B5FE95E6A5B3}"/>
              </a:ext>
            </a:extLst>
          </p:cNvPr>
          <p:cNvSpPr txBox="1"/>
          <p:nvPr/>
        </p:nvSpPr>
        <p:spPr>
          <a:xfrm>
            <a:off x="10643016" y="4595287"/>
            <a:ext cx="809468" cy="400110"/>
          </a:xfrm>
          <a:prstGeom prst="rect">
            <a:avLst/>
          </a:prstGeom>
          <a:noFill/>
        </p:spPr>
        <p:txBody>
          <a:bodyPr wrap="square" rtlCol="0">
            <a:spAutoFit/>
          </a:bodyPr>
          <a:lstStyle/>
          <a:p>
            <a:pPr algn="ctr"/>
            <a:r>
              <a:rPr lang="en-US" sz="2000" b="1" dirty="0"/>
              <a:t>DT</a:t>
            </a:r>
          </a:p>
        </p:txBody>
      </p:sp>
      <p:cxnSp>
        <p:nvCxnSpPr>
          <p:cNvPr id="31" name="Straight Arrow Connector 30">
            <a:extLst>
              <a:ext uri="{FF2B5EF4-FFF2-40B4-BE49-F238E27FC236}">
                <a16:creationId xmlns:a16="http://schemas.microsoft.com/office/drawing/2014/main" id="{CF47EA1B-7A90-DF84-22DB-C31465EE5A17}"/>
              </a:ext>
            </a:extLst>
          </p:cNvPr>
          <p:cNvCxnSpPr>
            <a:cxnSpLocks/>
          </p:cNvCxnSpPr>
          <p:nvPr/>
        </p:nvCxnSpPr>
        <p:spPr>
          <a:xfrm flipV="1">
            <a:off x="10052154" y="4822883"/>
            <a:ext cx="47593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A28B706-C41B-6A61-37D9-E9833115D8D7}"/>
              </a:ext>
            </a:extLst>
          </p:cNvPr>
          <p:cNvCxnSpPr>
            <a:cxnSpLocks/>
            <a:stCxn id="18" idx="2"/>
            <a:endCxn id="21" idx="0"/>
          </p:cNvCxnSpPr>
          <p:nvPr/>
        </p:nvCxnSpPr>
        <p:spPr>
          <a:xfrm>
            <a:off x="4669436" y="3972393"/>
            <a:ext cx="0" cy="57879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5" name="Straight Arrow Connector 34">
            <a:extLst>
              <a:ext uri="{FF2B5EF4-FFF2-40B4-BE49-F238E27FC236}">
                <a16:creationId xmlns:a16="http://schemas.microsoft.com/office/drawing/2014/main" id="{CE265146-E0CD-B8D1-C3EC-C118FFFECDE8}"/>
              </a:ext>
            </a:extLst>
          </p:cNvPr>
          <p:cNvCxnSpPr>
            <a:cxnSpLocks/>
          </p:cNvCxnSpPr>
          <p:nvPr/>
        </p:nvCxnSpPr>
        <p:spPr>
          <a:xfrm>
            <a:off x="6450767" y="4016492"/>
            <a:ext cx="0" cy="57879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6" name="Straight Arrow Connector 35">
            <a:extLst>
              <a:ext uri="{FF2B5EF4-FFF2-40B4-BE49-F238E27FC236}">
                <a16:creationId xmlns:a16="http://schemas.microsoft.com/office/drawing/2014/main" id="{CCD8673F-8BC9-6B27-9541-411769A57FDA}"/>
              </a:ext>
            </a:extLst>
          </p:cNvPr>
          <p:cNvCxnSpPr>
            <a:cxnSpLocks/>
          </p:cNvCxnSpPr>
          <p:nvPr/>
        </p:nvCxnSpPr>
        <p:spPr>
          <a:xfrm>
            <a:off x="9312639" y="3987382"/>
            <a:ext cx="0" cy="57879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9" name="Oval 38">
            <a:extLst>
              <a:ext uri="{FF2B5EF4-FFF2-40B4-BE49-F238E27FC236}">
                <a16:creationId xmlns:a16="http://schemas.microsoft.com/office/drawing/2014/main" id="{BE822254-E0A7-D233-0764-5CD43DADD79C}"/>
              </a:ext>
            </a:extLst>
          </p:cNvPr>
          <p:cNvSpPr/>
          <p:nvPr/>
        </p:nvSpPr>
        <p:spPr>
          <a:xfrm>
            <a:off x="5741234" y="5334129"/>
            <a:ext cx="1427812" cy="679122"/>
          </a:xfrm>
          <a:prstGeom prst="ellips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2000" b="1" dirty="0">
                <a:solidFill>
                  <a:srgbClr val="FF0000"/>
                </a:solidFill>
              </a:rPr>
              <a:t>Voting</a:t>
            </a:r>
          </a:p>
        </p:txBody>
      </p:sp>
      <p:cxnSp>
        <p:nvCxnSpPr>
          <p:cNvPr id="41" name="Straight Arrow Connector 40">
            <a:extLst>
              <a:ext uri="{FF2B5EF4-FFF2-40B4-BE49-F238E27FC236}">
                <a16:creationId xmlns:a16="http://schemas.microsoft.com/office/drawing/2014/main" id="{A3213E3F-7455-C63D-1DBE-7F5DBE3F284E}"/>
              </a:ext>
            </a:extLst>
          </p:cNvPr>
          <p:cNvCxnSpPr>
            <a:cxnSpLocks/>
            <a:endCxn id="39" idx="2"/>
          </p:cNvCxnSpPr>
          <p:nvPr/>
        </p:nvCxnSpPr>
        <p:spPr>
          <a:xfrm>
            <a:off x="4691923" y="5010063"/>
            <a:ext cx="1049311" cy="663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8A1C54E-36C7-3724-35A5-23C70A76E446}"/>
              </a:ext>
            </a:extLst>
          </p:cNvPr>
          <p:cNvCxnSpPr>
            <a:stCxn id="23" idx="2"/>
            <a:endCxn id="39" idx="6"/>
          </p:cNvCxnSpPr>
          <p:nvPr/>
        </p:nvCxnSpPr>
        <p:spPr>
          <a:xfrm flipH="1">
            <a:off x="7169046" y="5094581"/>
            <a:ext cx="2136098" cy="579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C30FCA2-08AC-BBA1-38EA-C2C7C670C00D}"/>
              </a:ext>
            </a:extLst>
          </p:cNvPr>
          <p:cNvCxnSpPr>
            <a:cxnSpLocks/>
            <a:stCxn id="22" idx="2"/>
            <a:endCxn id="39" idx="0"/>
          </p:cNvCxnSpPr>
          <p:nvPr/>
        </p:nvCxnSpPr>
        <p:spPr>
          <a:xfrm>
            <a:off x="6450767" y="5104111"/>
            <a:ext cx="4373" cy="23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21A6D2A-0747-4A8C-994F-A68A5BA79558}"/>
              </a:ext>
            </a:extLst>
          </p:cNvPr>
          <p:cNvSpPr txBox="1"/>
          <p:nvPr/>
        </p:nvSpPr>
        <p:spPr>
          <a:xfrm>
            <a:off x="5661285" y="6303543"/>
            <a:ext cx="1578964" cy="40011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sz="2000" b="1" dirty="0">
                <a:solidFill>
                  <a:schemeClr val="tx1"/>
                </a:solidFill>
              </a:rPr>
              <a:t>Prediction</a:t>
            </a:r>
            <a:endParaRPr lang="en-US" b="1" dirty="0">
              <a:solidFill>
                <a:schemeClr val="tx1"/>
              </a:solidFill>
            </a:endParaRPr>
          </a:p>
        </p:txBody>
      </p:sp>
      <p:cxnSp>
        <p:nvCxnSpPr>
          <p:cNvPr id="49" name="Straight Arrow Connector 48">
            <a:extLst>
              <a:ext uri="{FF2B5EF4-FFF2-40B4-BE49-F238E27FC236}">
                <a16:creationId xmlns:a16="http://schemas.microsoft.com/office/drawing/2014/main" id="{BBBE1BC3-3965-7E6A-66FB-2BAC31B47282}"/>
              </a:ext>
            </a:extLst>
          </p:cNvPr>
          <p:cNvCxnSpPr>
            <a:cxnSpLocks/>
          </p:cNvCxnSpPr>
          <p:nvPr/>
        </p:nvCxnSpPr>
        <p:spPr>
          <a:xfrm>
            <a:off x="6438277" y="6021005"/>
            <a:ext cx="4373" cy="23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E630076D-6919-594A-F5E9-BF0995CC19BA}"/>
              </a:ext>
            </a:extLst>
          </p:cNvPr>
          <p:cNvSpPr txBox="1"/>
          <p:nvPr/>
        </p:nvSpPr>
        <p:spPr>
          <a:xfrm>
            <a:off x="4834329" y="4032039"/>
            <a:ext cx="314791" cy="369332"/>
          </a:xfrm>
          <a:prstGeom prst="rect">
            <a:avLst/>
          </a:prstGeom>
          <a:noFill/>
        </p:spPr>
        <p:txBody>
          <a:bodyPr wrap="square" rtlCol="0">
            <a:spAutoFit/>
          </a:bodyPr>
          <a:lstStyle/>
          <a:p>
            <a:pPr algn="ctr"/>
            <a:r>
              <a:rPr lang="en-US" b="1" dirty="0">
                <a:solidFill>
                  <a:srgbClr val="FF0000"/>
                </a:solidFill>
              </a:rPr>
              <a:t>1</a:t>
            </a:r>
          </a:p>
        </p:txBody>
      </p:sp>
      <p:sp>
        <p:nvSpPr>
          <p:cNvPr id="51" name="TextBox 50">
            <a:extLst>
              <a:ext uri="{FF2B5EF4-FFF2-40B4-BE49-F238E27FC236}">
                <a16:creationId xmlns:a16="http://schemas.microsoft.com/office/drawing/2014/main" id="{C63C7272-A1F2-8498-A2FF-192C08F9E9ED}"/>
              </a:ext>
            </a:extLst>
          </p:cNvPr>
          <p:cNvSpPr txBox="1"/>
          <p:nvPr/>
        </p:nvSpPr>
        <p:spPr>
          <a:xfrm>
            <a:off x="6621908" y="4031513"/>
            <a:ext cx="314791" cy="369332"/>
          </a:xfrm>
          <a:prstGeom prst="rect">
            <a:avLst/>
          </a:prstGeom>
          <a:noFill/>
        </p:spPr>
        <p:txBody>
          <a:bodyPr wrap="square" rtlCol="0">
            <a:spAutoFit/>
          </a:bodyPr>
          <a:lstStyle/>
          <a:p>
            <a:pPr algn="ctr"/>
            <a:r>
              <a:rPr lang="en-US" b="1" dirty="0">
                <a:solidFill>
                  <a:srgbClr val="FF0000"/>
                </a:solidFill>
              </a:rPr>
              <a:t>2</a:t>
            </a:r>
          </a:p>
        </p:txBody>
      </p:sp>
      <p:sp>
        <p:nvSpPr>
          <p:cNvPr id="52" name="TextBox 51">
            <a:extLst>
              <a:ext uri="{FF2B5EF4-FFF2-40B4-BE49-F238E27FC236}">
                <a16:creationId xmlns:a16="http://schemas.microsoft.com/office/drawing/2014/main" id="{D2579539-BB05-9F93-AA79-9542404AF2EB}"/>
              </a:ext>
            </a:extLst>
          </p:cNvPr>
          <p:cNvSpPr txBox="1"/>
          <p:nvPr/>
        </p:nvSpPr>
        <p:spPr>
          <a:xfrm>
            <a:off x="9483779" y="4016492"/>
            <a:ext cx="314791" cy="369332"/>
          </a:xfrm>
          <a:prstGeom prst="rect">
            <a:avLst/>
          </a:prstGeom>
          <a:noFill/>
        </p:spPr>
        <p:txBody>
          <a:bodyPr wrap="square" rtlCol="0">
            <a:spAutoFit/>
          </a:bodyPr>
          <a:lstStyle/>
          <a:p>
            <a:pPr algn="ctr"/>
            <a:r>
              <a:rPr lang="en-US" b="1" dirty="0">
                <a:solidFill>
                  <a:srgbClr val="FF0000"/>
                </a:solidFill>
              </a:rPr>
              <a:t>n</a:t>
            </a:r>
          </a:p>
        </p:txBody>
      </p:sp>
      <p:sp>
        <p:nvSpPr>
          <p:cNvPr id="53" name="TextBox 52">
            <a:extLst>
              <a:ext uri="{FF2B5EF4-FFF2-40B4-BE49-F238E27FC236}">
                <a16:creationId xmlns:a16="http://schemas.microsoft.com/office/drawing/2014/main" id="{62FEEEF9-9883-3DDC-0C64-6D922F9998D7}"/>
              </a:ext>
            </a:extLst>
          </p:cNvPr>
          <p:cNvSpPr txBox="1"/>
          <p:nvPr/>
        </p:nvSpPr>
        <p:spPr>
          <a:xfrm>
            <a:off x="5301521" y="4977923"/>
            <a:ext cx="314791" cy="369332"/>
          </a:xfrm>
          <a:prstGeom prst="rect">
            <a:avLst/>
          </a:prstGeom>
          <a:noFill/>
        </p:spPr>
        <p:txBody>
          <a:bodyPr wrap="square" rtlCol="0">
            <a:spAutoFit/>
          </a:bodyPr>
          <a:lstStyle/>
          <a:p>
            <a:pPr algn="ctr"/>
            <a:r>
              <a:rPr lang="en-US" b="1" dirty="0">
                <a:solidFill>
                  <a:srgbClr val="FF0000"/>
                </a:solidFill>
              </a:rPr>
              <a:t>1</a:t>
            </a:r>
          </a:p>
        </p:txBody>
      </p:sp>
      <p:sp>
        <p:nvSpPr>
          <p:cNvPr id="54" name="TextBox 53">
            <a:extLst>
              <a:ext uri="{FF2B5EF4-FFF2-40B4-BE49-F238E27FC236}">
                <a16:creationId xmlns:a16="http://schemas.microsoft.com/office/drawing/2014/main" id="{6B0DC3B0-F5E6-C67B-DE2D-12DAD6711B7B}"/>
              </a:ext>
            </a:extLst>
          </p:cNvPr>
          <p:cNvSpPr txBox="1"/>
          <p:nvPr/>
        </p:nvSpPr>
        <p:spPr>
          <a:xfrm>
            <a:off x="7089100" y="4977397"/>
            <a:ext cx="314791" cy="369332"/>
          </a:xfrm>
          <a:prstGeom prst="rect">
            <a:avLst/>
          </a:prstGeom>
          <a:noFill/>
        </p:spPr>
        <p:txBody>
          <a:bodyPr wrap="square" rtlCol="0">
            <a:spAutoFit/>
          </a:bodyPr>
          <a:lstStyle/>
          <a:p>
            <a:pPr algn="ctr"/>
            <a:r>
              <a:rPr lang="en-US" b="1" dirty="0">
                <a:solidFill>
                  <a:srgbClr val="FF0000"/>
                </a:solidFill>
              </a:rPr>
              <a:t>2</a:t>
            </a:r>
          </a:p>
        </p:txBody>
      </p:sp>
      <p:sp>
        <p:nvSpPr>
          <p:cNvPr id="55" name="TextBox 54">
            <a:extLst>
              <a:ext uri="{FF2B5EF4-FFF2-40B4-BE49-F238E27FC236}">
                <a16:creationId xmlns:a16="http://schemas.microsoft.com/office/drawing/2014/main" id="{043940F9-31B6-F634-74F0-B2510D01B4B9}"/>
              </a:ext>
            </a:extLst>
          </p:cNvPr>
          <p:cNvSpPr txBox="1"/>
          <p:nvPr/>
        </p:nvSpPr>
        <p:spPr>
          <a:xfrm>
            <a:off x="9950971" y="4962376"/>
            <a:ext cx="314791" cy="369332"/>
          </a:xfrm>
          <a:prstGeom prst="rect">
            <a:avLst/>
          </a:prstGeom>
          <a:noFill/>
        </p:spPr>
        <p:txBody>
          <a:bodyPr wrap="square" rtlCol="0">
            <a:spAutoFit/>
          </a:bodyPr>
          <a:lstStyle/>
          <a:p>
            <a:pPr algn="ctr"/>
            <a:r>
              <a:rPr lang="en-US" b="1" dirty="0">
                <a:solidFill>
                  <a:srgbClr val="FF0000"/>
                </a:solidFill>
              </a:rPr>
              <a:t>n</a:t>
            </a:r>
          </a:p>
        </p:txBody>
      </p:sp>
    </p:spTree>
    <p:extLst>
      <p:ext uri="{BB962C8B-B14F-4D97-AF65-F5344CB8AC3E}">
        <p14:creationId xmlns:p14="http://schemas.microsoft.com/office/powerpoint/2010/main" val="493867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1571CF-7ABC-0607-6052-DF849C7F7589}"/>
              </a:ext>
            </a:extLst>
          </p:cNvPr>
          <p:cNvSpPr txBox="1"/>
          <p:nvPr/>
        </p:nvSpPr>
        <p:spPr>
          <a:xfrm>
            <a:off x="3049250" y="250048"/>
            <a:ext cx="6093500" cy="769441"/>
          </a:xfrm>
          <a:prstGeom prst="rect">
            <a:avLst/>
          </a:prstGeom>
          <a:noFill/>
        </p:spPr>
        <p:txBody>
          <a:bodyPr wrap="square">
            <a:spAutoFit/>
          </a:bodyPr>
          <a:lstStyle/>
          <a:p>
            <a:pPr algn="ctr"/>
            <a:r>
              <a:rPr lang="en-US" sz="4400" b="1" dirty="0">
                <a:solidFill>
                  <a:srgbClr val="FF0000"/>
                </a:solidFill>
              </a:rPr>
              <a:t>Random Forest</a:t>
            </a:r>
          </a:p>
        </p:txBody>
      </p:sp>
      <p:sp>
        <p:nvSpPr>
          <p:cNvPr id="5" name="TextBox 4">
            <a:extLst>
              <a:ext uri="{FF2B5EF4-FFF2-40B4-BE49-F238E27FC236}">
                <a16:creationId xmlns:a16="http://schemas.microsoft.com/office/drawing/2014/main" id="{BA88F4A5-D263-3041-9BA6-7D5BF1D42E6B}"/>
              </a:ext>
            </a:extLst>
          </p:cNvPr>
          <p:cNvSpPr txBox="1"/>
          <p:nvPr/>
        </p:nvSpPr>
        <p:spPr>
          <a:xfrm>
            <a:off x="434714" y="1244184"/>
            <a:ext cx="3732552" cy="461665"/>
          </a:xfrm>
          <a:prstGeom prst="rect">
            <a:avLst/>
          </a:prstGeom>
          <a:noFill/>
        </p:spPr>
        <p:txBody>
          <a:bodyPr wrap="square" rtlCol="0">
            <a:spAutoFit/>
          </a:bodyPr>
          <a:lstStyle/>
          <a:p>
            <a:r>
              <a:rPr lang="en-US" sz="2400" b="1" dirty="0">
                <a:solidFill>
                  <a:srgbClr val="FFC000"/>
                </a:solidFill>
              </a:rPr>
              <a:t>Steps in Random Forest:</a:t>
            </a:r>
          </a:p>
        </p:txBody>
      </p:sp>
      <p:sp>
        <p:nvSpPr>
          <p:cNvPr id="7" name="TextBox 6">
            <a:extLst>
              <a:ext uri="{FF2B5EF4-FFF2-40B4-BE49-F238E27FC236}">
                <a16:creationId xmlns:a16="http://schemas.microsoft.com/office/drawing/2014/main" id="{C510A401-B8F9-073E-B59C-F0994EE9F291}"/>
              </a:ext>
            </a:extLst>
          </p:cNvPr>
          <p:cNvSpPr txBox="1"/>
          <p:nvPr/>
        </p:nvSpPr>
        <p:spPr>
          <a:xfrm>
            <a:off x="722025" y="1917310"/>
            <a:ext cx="5164112" cy="3693319"/>
          </a:xfrm>
          <a:prstGeom prst="rect">
            <a:avLst/>
          </a:prstGeom>
          <a:noFill/>
        </p:spPr>
        <p:txBody>
          <a:bodyPr wrap="square">
            <a:spAutoFit/>
          </a:bodyPr>
          <a:lstStyle/>
          <a:p>
            <a:r>
              <a:rPr lang="en-US" b="1" dirty="0"/>
              <a:t>Step 1</a:t>
            </a:r>
            <a:r>
              <a:rPr lang="en-US" dirty="0"/>
              <a:t>: A random subset of records (n samples) is selected from the dataset, which contains k records.</a:t>
            </a:r>
          </a:p>
          <a:p>
            <a:endParaRPr lang="en-US" dirty="0"/>
          </a:p>
          <a:p>
            <a:r>
              <a:rPr lang="en-US" b="1" dirty="0"/>
              <a:t>Step 2</a:t>
            </a:r>
            <a:r>
              <a:rPr lang="en-US" dirty="0"/>
              <a:t>: A decision tree is constructed for each of these random samples.</a:t>
            </a:r>
          </a:p>
          <a:p>
            <a:endParaRPr lang="en-US" dirty="0"/>
          </a:p>
          <a:p>
            <a:r>
              <a:rPr lang="en-US" b="1" dirty="0"/>
              <a:t>Step 3</a:t>
            </a:r>
            <a:r>
              <a:rPr lang="en-US" dirty="0"/>
              <a:t>: Each decision tree produces its own output.</a:t>
            </a:r>
          </a:p>
          <a:p>
            <a:endParaRPr lang="en-US" dirty="0"/>
          </a:p>
          <a:p>
            <a:r>
              <a:rPr lang="en-US" b="1" dirty="0"/>
              <a:t>Step 4</a:t>
            </a:r>
            <a:r>
              <a:rPr lang="en-US" dirty="0"/>
              <a:t>: The final output is determined by Majority Voting (for classification) or Averaging (for regression).</a:t>
            </a:r>
          </a:p>
        </p:txBody>
      </p:sp>
      <p:pic>
        <p:nvPicPr>
          <p:cNvPr id="9" name="Picture 8">
            <a:extLst>
              <a:ext uri="{FF2B5EF4-FFF2-40B4-BE49-F238E27FC236}">
                <a16:creationId xmlns:a16="http://schemas.microsoft.com/office/drawing/2014/main" id="{1F79FD38-EA3D-B7B8-81B2-B3A47D3C4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1390" y="1917310"/>
            <a:ext cx="6340610" cy="3564738"/>
          </a:xfrm>
          <a:prstGeom prst="rect">
            <a:avLst/>
          </a:prstGeom>
        </p:spPr>
      </p:pic>
    </p:spTree>
    <p:extLst>
      <p:ext uri="{BB962C8B-B14F-4D97-AF65-F5344CB8AC3E}">
        <p14:creationId xmlns:p14="http://schemas.microsoft.com/office/powerpoint/2010/main" val="2181951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716DE8-1AAA-1805-0594-1278AEE485AB}"/>
              </a:ext>
            </a:extLst>
          </p:cNvPr>
          <p:cNvSpPr txBox="1"/>
          <p:nvPr/>
        </p:nvSpPr>
        <p:spPr>
          <a:xfrm>
            <a:off x="3049250" y="250048"/>
            <a:ext cx="6093500" cy="769441"/>
          </a:xfrm>
          <a:prstGeom prst="rect">
            <a:avLst/>
          </a:prstGeom>
          <a:noFill/>
        </p:spPr>
        <p:txBody>
          <a:bodyPr wrap="square">
            <a:spAutoFit/>
          </a:bodyPr>
          <a:lstStyle/>
          <a:p>
            <a:pPr algn="ctr"/>
            <a:r>
              <a:rPr lang="en-US" sz="4400" b="1" dirty="0">
                <a:solidFill>
                  <a:srgbClr val="FF0000"/>
                </a:solidFill>
              </a:rPr>
              <a:t>Random Forest</a:t>
            </a:r>
          </a:p>
        </p:txBody>
      </p:sp>
      <p:pic>
        <p:nvPicPr>
          <p:cNvPr id="6" name="Picture 5">
            <a:extLst>
              <a:ext uri="{FF2B5EF4-FFF2-40B4-BE49-F238E27FC236}">
                <a16:creationId xmlns:a16="http://schemas.microsoft.com/office/drawing/2014/main" id="{F2ABBBBE-0923-E83B-6F33-E14B524A16F3}"/>
              </a:ext>
            </a:extLst>
          </p:cNvPr>
          <p:cNvPicPr>
            <a:picLocks noChangeAspect="1"/>
          </p:cNvPicPr>
          <p:nvPr/>
        </p:nvPicPr>
        <p:blipFill>
          <a:blip r:embed="rId2"/>
          <a:stretch>
            <a:fillRect/>
          </a:stretch>
        </p:blipFill>
        <p:spPr>
          <a:xfrm>
            <a:off x="0" y="1680248"/>
            <a:ext cx="7145310" cy="3947208"/>
          </a:xfrm>
          <a:prstGeom prst="rect">
            <a:avLst/>
          </a:prstGeom>
        </p:spPr>
      </p:pic>
      <p:sp>
        <p:nvSpPr>
          <p:cNvPr id="7" name="Rectangle: Rounded Corners 6">
            <a:extLst>
              <a:ext uri="{FF2B5EF4-FFF2-40B4-BE49-F238E27FC236}">
                <a16:creationId xmlns:a16="http://schemas.microsoft.com/office/drawing/2014/main" id="{57540555-23E2-96F3-D69E-B2D3A42C3C51}"/>
              </a:ext>
            </a:extLst>
          </p:cNvPr>
          <p:cNvSpPr/>
          <p:nvPr/>
        </p:nvSpPr>
        <p:spPr>
          <a:xfrm>
            <a:off x="9009089" y="649916"/>
            <a:ext cx="2083633" cy="2113455"/>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600" b="1" dirty="0">
                <a:solidFill>
                  <a:srgbClr val="FF0000"/>
                </a:solidFill>
              </a:rPr>
              <a:t>Dataset</a:t>
            </a:r>
            <a:endParaRPr lang="en-US" b="1" dirty="0">
              <a:solidFill>
                <a:srgbClr val="FF0000"/>
              </a:solidFill>
            </a:endParaRPr>
          </a:p>
        </p:txBody>
      </p:sp>
      <p:sp>
        <p:nvSpPr>
          <p:cNvPr id="11" name="Rectangle 10">
            <a:extLst>
              <a:ext uri="{FF2B5EF4-FFF2-40B4-BE49-F238E27FC236}">
                <a16:creationId xmlns:a16="http://schemas.microsoft.com/office/drawing/2014/main" id="{CEC548B2-ED17-8F48-1699-30B409A070A6}"/>
              </a:ext>
            </a:extLst>
          </p:cNvPr>
          <p:cNvSpPr/>
          <p:nvPr/>
        </p:nvSpPr>
        <p:spPr>
          <a:xfrm>
            <a:off x="8529403" y="3419470"/>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Training Sample</a:t>
            </a:r>
          </a:p>
        </p:txBody>
      </p:sp>
      <p:sp>
        <p:nvSpPr>
          <p:cNvPr id="12" name="Rectangle 11">
            <a:extLst>
              <a:ext uri="{FF2B5EF4-FFF2-40B4-BE49-F238E27FC236}">
                <a16:creationId xmlns:a16="http://schemas.microsoft.com/office/drawing/2014/main" id="{DA7FCF01-C2D7-D0DA-E1C6-87A1327BFC2F}"/>
              </a:ext>
            </a:extLst>
          </p:cNvPr>
          <p:cNvSpPr/>
          <p:nvPr/>
        </p:nvSpPr>
        <p:spPr>
          <a:xfrm>
            <a:off x="10310734" y="3429000"/>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Training Sample</a:t>
            </a:r>
          </a:p>
        </p:txBody>
      </p:sp>
      <p:cxnSp>
        <p:nvCxnSpPr>
          <p:cNvPr id="14" name="Straight Arrow Connector 13">
            <a:extLst>
              <a:ext uri="{FF2B5EF4-FFF2-40B4-BE49-F238E27FC236}">
                <a16:creationId xmlns:a16="http://schemas.microsoft.com/office/drawing/2014/main" id="{D07711ED-1F1A-8908-4D6F-E3B846A7419D}"/>
              </a:ext>
            </a:extLst>
          </p:cNvPr>
          <p:cNvCxnSpPr>
            <a:cxnSpLocks/>
          </p:cNvCxnSpPr>
          <p:nvPr/>
        </p:nvCxnSpPr>
        <p:spPr>
          <a:xfrm>
            <a:off x="10075890" y="2716050"/>
            <a:ext cx="896910" cy="665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7414F1B-53BD-015F-FEBD-85FD7EB94071}"/>
              </a:ext>
            </a:extLst>
          </p:cNvPr>
          <p:cNvCxnSpPr>
            <a:cxnSpLocks/>
          </p:cNvCxnSpPr>
          <p:nvPr/>
        </p:nvCxnSpPr>
        <p:spPr>
          <a:xfrm flipH="1">
            <a:off x="9191469" y="2716050"/>
            <a:ext cx="884421" cy="65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CF0F78F-9959-362A-9233-00112A8611FB}"/>
              </a:ext>
            </a:extLst>
          </p:cNvPr>
          <p:cNvSpPr txBox="1"/>
          <p:nvPr/>
        </p:nvSpPr>
        <p:spPr>
          <a:xfrm>
            <a:off x="6093503" y="1675588"/>
            <a:ext cx="2844383" cy="830997"/>
          </a:xfrm>
          <a:prstGeom prst="rect">
            <a:avLst/>
          </a:prstGeom>
          <a:noFill/>
        </p:spPr>
        <p:txBody>
          <a:bodyPr wrap="square">
            <a:spAutoFit/>
          </a:bodyPr>
          <a:lstStyle/>
          <a:p>
            <a:pPr marL="342900" indent="-342900">
              <a:buFont typeface="Wingdings" panose="05000000000000000000" pitchFamily="2" charset="2"/>
              <a:buChar char="Ø"/>
            </a:pPr>
            <a:r>
              <a:rPr lang="en-US" sz="2400" b="1" dirty="0"/>
              <a:t>Row Sampling</a:t>
            </a:r>
          </a:p>
          <a:p>
            <a:pPr marL="342900" indent="-342900">
              <a:buFont typeface="Wingdings" panose="05000000000000000000" pitchFamily="2" charset="2"/>
              <a:buChar char="Ø"/>
            </a:pPr>
            <a:r>
              <a:rPr lang="en-US" sz="2400" b="1" dirty="0"/>
              <a:t>Feature Sampling</a:t>
            </a:r>
          </a:p>
        </p:txBody>
      </p:sp>
      <p:sp>
        <p:nvSpPr>
          <p:cNvPr id="23" name="TextBox 22">
            <a:extLst>
              <a:ext uri="{FF2B5EF4-FFF2-40B4-BE49-F238E27FC236}">
                <a16:creationId xmlns:a16="http://schemas.microsoft.com/office/drawing/2014/main" id="{B8B47954-A3A3-823B-1F50-998EA64188DB}"/>
              </a:ext>
            </a:extLst>
          </p:cNvPr>
          <p:cNvSpPr txBox="1"/>
          <p:nvPr/>
        </p:nvSpPr>
        <p:spPr>
          <a:xfrm>
            <a:off x="8552517" y="2876077"/>
            <a:ext cx="896910" cy="369332"/>
          </a:xfrm>
          <a:prstGeom prst="rect">
            <a:avLst/>
          </a:prstGeom>
          <a:noFill/>
        </p:spPr>
        <p:txBody>
          <a:bodyPr wrap="square" rtlCol="0">
            <a:spAutoFit/>
          </a:bodyPr>
          <a:lstStyle/>
          <a:p>
            <a:pPr algn="ctr"/>
            <a:r>
              <a:rPr lang="en-US" dirty="0"/>
              <a:t>RS+FS</a:t>
            </a:r>
          </a:p>
        </p:txBody>
      </p:sp>
      <p:sp>
        <p:nvSpPr>
          <p:cNvPr id="24" name="TextBox 23">
            <a:extLst>
              <a:ext uri="{FF2B5EF4-FFF2-40B4-BE49-F238E27FC236}">
                <a16:creationId xmlns:a16="http://schemas.microsoft.com/office/drawing/2014/main" id="{DC18A9F9-F7F0-09EA-7B56-DF6FE62BA7FE}"/>
              </a:ext>
            </a:extLst>
          </p:cNvPr>
          <p:cNvSpPr txBox="1"/>
          <p:nvPr/>
        </p:nvSpPr>
        <p:spPr>
          <a:xfrm>
            <a:off x="10746700" y="2835491"/>
            <a:ext cx="896910" cy="369332"/>
          </a:xfrm>
          <a:prstGeom prst="rect">
            <a:avLst/>
          </a:prstGeom>
          <a:noFill/>
        </p:spPr>
        <p:txBody>
          <a:bodyPr wrap="square" rtlCol="0">
            <a:spAutoFit/>
          </a:bodyPr>
          <a:lstStyle/>
          <a:p>
            <a:pPr algn="ctr"/>
            <a:r>
              <a:rPr lang="en-US" dirty="0"/>
              <a:t>RS+FS</a:t>
            </a:r>
          </a:p>
        </p:txBody>
      </p:sp>
      <p:sp>
        <p:nvSpPr>
          <p:cNvPr id="25" name="Rectangle 24">
            <a:extLst>
              <a:ext uri="{FF2B5EF4-FFF2-40B4-BE49-F238E27FC236}">
                <a16:creationId xmlns:a16="http://schemas.microsoft.com/office/drawing/2014/main" id="{97B7ABD2-4335-96BC-7FFE-5B735243C8E7}"/>
              </a:ext>
            </a:extLst>
          </p:cNvPr>
          <p:cNvSpPr/>
          <p:nvPr/>
        </p:nvSpPr>
        <p:spPr>
          <a:xfrm>
            <a:off x="8529403" y="4468305"/>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Decision Tree 1</a:t>
            </a:r>
          </a:p>
        </p:txBody>
      </p:sp>
      <p:sp>
        <p:nvSpPr>
          <p:cNvPr id="26" name="Rectangle 25">
            <a:extLst>
              <a:ext uri="{FF2B5EF4-FFF2-40B4-BE49-F238E27FC236}">
                <a16:creationId xmlns:a16="http://schemas.microsoft.com/office/drawing/2014/main" id="{44004EBE-1757-1372-B95A-188B731053C8}"/>
              </a:ext>
            </a:extLst>
          </p:cNvPr>
          <p:cNvSpPr/>
          <p:nvPr/>
        </p:nvSpPr>
        <p:spPr>
          <a:xfrm>
            <a:off x="10325724" y="4477835"/>
            <a:ext cx="1274164" cy="543393"/>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b="1" dirty="0">
                <a:solidFill>
                  <a:schemeClr val="tx1"/>
                </a:solidFill>
              </a:rPr>
              <a:t>Decision Tree 2</a:t>
            </a:r>
          </a:p>
        </p:txBody>
      </p:sp>
      <p:cxnSp>
        <p:nvCxnSpPr>
          <p:cNvPr id="28" name="Straight Arrow Connector 27">
            <a:extLst>
              <a:ext uri="{FF2B5EF4-FFF2-40B4-BE49-F238E27FC236}">
                <a16:creationId xmlns:a16="http://schemas.microsoft.com/office/drawing/2014/main" id="{A5E0E6F1-2990-F34A-1622-ADA2AC7FE505}"/>
              </a:ext>
            </a:extLst>
          </p:cNvPr>
          <p:cNvCxnSpPr>
            <a:cxnSpLocks/>
            <a:stCxn id="11" idx="2"/>
          </p:cNvCxnSpPr>
          <p:nvPr/>
        </p:nvCxnSpPr>
        <p:spPr>
          <a:xfrm>
            <a:off x="9166485" y="3962863"/>
            <a:ext cx="0" cy="489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ADCBB65-2799-0671-658A-3B2AD6A32D16}"/>
              </a:ext>
            </a:extLst>
          </p:cNvPr>
          <p:cNvCxnSpPr>
            <a:cxnSpLocks/>
          </p:cNvCxnSpPr>
          <p:nvPr/>
        </p:nvCxnSpPr>
        <p:spPr>
          <a:xfrm>
            <a:off x="10972800" y="3972393"/>
            <a:ext cx="0" cy="479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453BC03-DC35-A7FC-9995-9F343C05D83B}"/>
              </a:ext>
            </a:extLst>
          </p:cNvPr>
          <p:cNvCxnSpPr>
            <a:cxnSpLocks/>
          </p:cNvCxnSpPr>
          <p:nvPr/>
        </p:nvCxnSpPr>
        <p:spPr>
          <a:xfrm flipH="1">
            <a:off x="10770433" y="5009148"/>
            <a:ext cx="322289" cy="538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EFA7B21-D8D9-D68E-CD9F-C07CE1D6B95C}"/>
              </a:ext>
            </a:extLst>
          </p:cNvPr>
          <p:cNvCxnSpPr>
            <a:cxnSpLocks/>
            <a:endCxn id="37" idx="1"/>
          </p:cNvCxnSpPr>
          <p:nvPr/>
        </p:nvCxnSpPr>
        <p:spPr>
          <a:xfrm>
            <a:off x="9191469" y="5101997"/>
            <a:ext cx="551999" cy="426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AF4908A5-F34E-10C3-86E1-A2BCD8474A2A}"/>
              </a:ext>
            </a:extLst>
          </p:cNvPr>
          <p:cNvSpPr/>
          <p:nvPr/>
        </p:nvSpPr>
        <p:spPr>
          <a:xfrm>
            <a:off x="9534370" y="5429058"/>
            <a:ext cx="1427812" cy="679122"/>
          </a:xfrm>
          <a:prstGeom prst="ellips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2000" b="1" dirty="0">
                <a:solidFill>
                  <a:srgbClr val="FF0000"/>
                </a:solidFill>
              </a:rPr>
              <a:t>Voting</a:t>
            </a:r>
          </a:p>
        </p:txBody>
      </p:sp>
      <p:sp>
        <p:nvSpPr>
          <p:cNvPr id="38" name="TextBox 37">
            <a:extLst>
              <a:ext uri="{FF2B5EF4-FFF2-40B4-BE49-F238E27FC236}">
                <a16:creationId xmlns:a16="http://schemas.microsoft.com/office/drawing/2014/main" id="{46B72001-FE99-9AFE-8489-1F460E66DD29}"/>
              </a:ext>
            </a:extLst>
          </p:cNvPr>
          <p:cNvSpPr txBox="1"/>
          <p:nvPr/>
        </p:nvSpPr>
        <p:spPr>
          <a:xfrm>
            <a:off x="9513758" y="6405500"/>
            <a:ext cx="1578964" cy="40011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en-US" sz="2000" b="1" dirty="0">
                <a:solidFill>
                  <a:schemeClr val="tx1"/>
                </a:solidFill>
              </a:rPr>
              <a:t>Prediction</a:t>
            </a:r>
            <a:endParaRPr lang="en-US" b="1" dirty="0">
              <a:solidFill>
                <a:schemeClr val="tx1"/>
              </a:solidFill>
            </a:endParaRPr>
          </a:p>
        </p:txBody>
      </p:sp>
      <p:cxnSp>
        <p:nvCxnSpPr>
          <p:cNvPr id="39" name="Straight Arrow Connector 38">
            <a:extLst>
              <a:ext uri="{FF2B5EF4-FFF2-40B4-BE49-F238E27FC236}">
                <a16:creationId xmlns:a16="http://schemas.microsoft.com/office/drawing/2014/main" id="{E3214FED-5B4B-E61A-EBB9-58AF92686781}"/>
              </a:ext>
            </a:extLst>
          </p:cNvPr>
          <p:cNvCxnSpPr>
            <a:cxnSpLocks/>
          </p:cNvCxnSpPr>
          <p:nvPr/>
        </p:nvCxnSpPr>
        <p:spPr>
          <a:xfrm>
            <a:off x="10290750" y="6122962"/>
            <a:ext cx="4373" cy="23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095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7CEFC6-895D-5D33-BD63-9608AF5E9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099441"/>
            <a:ext cx="3447394" cy="3447394"/>
          </a:xfrm>
          <a:prstGeom prst="rect">
            <a:avLst/>
          </a:prstGeom>
        </p:spPr>
      </p:pic>
      <p:sp>
        <p:nvSpPr>
          <p:cNvPr id="5" name="TextBox 4">
            <a:extLst>
              <a:ext uri="{FF2B5EF4-FFF2-40B4-BE49-F238E27FC236}">
                <a16:creationId xmlns:a16="http://schemas.microsoft.com/office/drawing/2014/main" id="{8F86FD14-0F84-263C-468A-642FD798C78C}"/>
              </a:ext>
            </a:extLst>
          </p:cNvPr>
          <p:cNvSpPr txBox="1"/>
          <p:nvPr/>
        </p:nvSpPr>
        <p:spPr>
          <a:xfrm>
            <a:off x="3447393" y="135643"/>
            <a:ext cx="5297214" cy="1569660"/>
          </a:xfrm>
          <a:prstGeom prst="rect">
            <a:avLst/>
          </a:prstGeom>
          <a:noFill/>
        </p:spPr>
        <p:txBody>
          <a:bodyPr wrap="square" rtlCol="0">
            <a:spAutoFit/>
          </a:bodyPr>
          <a:lstStyle/>
          <a:p>
            <a:pPr algn="ctr"/>
            <a:r>
              <a:rPr lang="en-US" sz="3200" dirty="0">
                <a:solidFill>
                  <a:srgbClr val="FF0000"/>
                </a:solidFill>
              </a:rPr>
              <a:t>OOB(Out-Of-Bag)</a:t>
            </a:r>
          </a:p>
          <a:p>
            <a:pPr algn="ctr"/>
            <a:r>
              <a:rPr lang="en-US" sz="3200" dirty="0">
                <a:solidFill>
                  <a:srgbClr val="FF0000"/>
                </a:solidFill>
              </a:rPr>
              <a:t> in </a:t>
            </a:r>
          </a:p>
          <a:p>
            <a:pPr algn="ctr"/>
            <a:r>
              <a:rPr lang="en-US" sz="3200" dirty="0">
                <a:solidFill>
                  <a:srgbClr val="FF0000"/>
                </a:solidFill>
              </a:rPr>
              <a:t>Random Forest</a:t>
            </a:r>
          </a:p>
        </p:txBody>
      </p:sp>
      <p:cxnSp>
        <p:nvCxnSpPr>
          <p:cNvPr id="6" name="Straight Connector 5">
            <a:extLst>
              <a:ext uri="{FF2B5EF4-FFF2-40B4-BE49-F238E27FC236}">
                <a16:creationId xmlns:a16="http://schemas.microsoft.com/office/drawing/2014/main" id="{E02EF42B-4F29-7345-0A1B-47F5B74A3198}"/>
              </a:ext>
            </a:extLst>
          </p:cNvPr>
          <p:cNvCxnSpPr>
            <a:cxnSpLocks/>
          </p:cNvCxnSpPr>
          <p:nvPr/>
        </p:nvCxnSpPr>
        <p:spPr>
          <a:xfrm flipH="1">
            <a:off x="734657" y="4776951"/>
            <a:ext cx="305867" cy="488731"/>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A83747DF-8D9B-037A-7059-D93ABCFE2BDB}"/>
              </a:ext>
            </a:extLst>
          </p:cNvPr>
          <p:cNvCxnSpPr>
            <a:cxnSpLocks/>
          </p:cNvCxnSpPr>
          <p:nvPr/>
        </p:nvCxnSpPr>
        <p:spPr>
          <a:xfrm flipH="1">
            <a:off x="873016" y="4776951"/>
            <a:ext cx="301515" cy="520262"/>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40E42390-722D-CC5F-0B6E-ED23A3F9E8DC}"/>
              </a:ext>
            </a:extLst>
          </p:cNvPr>
          <p:cNvCxnSpPr>
            <a:cxnSpLocks/>
          </p:cNvCxnSpPr>
          <p:nvPr/>
        </p:nvCxnSpPr>
        <p:spPr>
          <a:xfrm flipH="1">
            <a:off x="964817" y="4776951"/>
            <a:ext cx="343721" cy="583324"/>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493493B9-3DB3-410C-E277-14EAD3112698}"/>
              </a:ext>
            </a:extLst>
          </p:cNvPr>
          <p:cNvCxnSpPr>
            <a:cxnSpLocks/>
          </p:cNvCxnSpPr>
          <p:nvPr/>
        </p:nvCxnSpPr>
        <p:spPr>
          <a:xfrm flipH="1">
            <a:off x="1107527" y="4776951"/>
            <a:ext cx="335018" cy="583324"/>
          </a:xfrm>
          <a:prstGeom prst="line">
            <a:avLst/>
          </a:prstGeom>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55AA2A33-19F4-A9F8-23C3-FE8A9FA289BC}"/>
              </a:ext>
            </a:extLst>
          </p:cNvPr>
          <p:cNvCxnSpPr>
            <a:cxnSpLocks/>
          </p:cNvCxnSpPr>
          <p:nvPr/>
        </p:nvCxnSpPr>
        <p:spPr>
          <a:xfrm flipH="1">
            <a:off x="1208033" y="4776951"/>
            <a:ext cx="368519" cy="583324"/>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D7C40D62-8541-5617-084E-702E49270D5F}"/>
              </a:ext>
            </a:extLst>
          </p:cNvPr>
          <p:cNvCxnSpPr>
            <a:cxnSpLocks/>
          </p:cNvCxnSpPr>
          <p:nvPr/>
        </p:nvCxnSpPr>
        <p:spPr>
          <a:xfrm flipH="1">
            <a:off x="1342040" y="4776951"/>
            <a:ext cx="368519" cy="583324"/>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A7E0464D-C4B7-B113-1B65-6C79CFB66CAB}"/>
              </a:ext>
            </a:extLst>
          </p:cNvPr>
          <p:cNvCxnSpPr>
            <a:cxnSpLocks/>
          </p:cNvCxnSpPr>
          <p:nvPr/>
        </p:nvCxnSpPr>
        <p:spPr>
          <a:xfrm flipH="1">
            <a:off x="1476047" y="4776951"/>
            <a:ext cx="368519" cy="583324"/>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344BB583-16B4-13A0-298C-BA5389D26E78}"/>
              </a:ext>
            </a:extLst>
          </p:cNvPr>
          <p:cNvCxnSpPr>
            <a:cxnSpLocks/>
          </p:cNvCxnSpPr>
          <p:nvPr/>
        </p:nvCxnSpPr>
        <p:spPr>
          <a:xfrm flipH="1">
            <a:off x="1643556" y="4776951"/>
            <a:ext cx="335017" cy="583324"/>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E77B549C-E5AE-0914-96B9-375ACB6B5553}"/>
              </a:ext>
            </a:extLst>
          </p:cNvPr>
          <p:cNvCxnSpPr>
            <a:cxnSpLocks/>
          </p:cNvCxnSpPr>
          <p:nvPr/>
        </p:nvCxnSpPr>
        <p:spPr>
          <a:xfrm flipH="1">
            <a:off x="1811064" y="4737537"/>
            <a:ext cx="301023" cy="579384"/>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1F48E6C2-1300-EE52-BE2D-FB1018DB20CE}"/>
              </a:ext>
            </a:extLst>
          </p:cNvPr>
          <p:cNvCxnSpPr/>
          <p:nvPr/>
        </p:nvCxnSpPr>
        <p:spPr>
          <a:xfrm flipH="1">
            <a:off x="1931277" y="4818336"/>
            <a:ext cx="268014" cy="45720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a:extLst>
              <a:ext uri="{FF2B5EF4-FFF2-40B4-BE49-F238E27FC236}">
                <a16:creationId xmlns:a16="http://schemas.microsoft.com/office/drawing/2014/main" id="{A314BF53-0C33-1B97-D2C7-BB49D845B3CB}"/>
              </a:ext>
            </a:extLst>
          </p:cNvPr>
          <p:cNvCxnSpPr>
            <a:cxnSpLocks/>
          </p:cNvCxnSpPr>
          <p:nvPr/>
        </p:nvCxnSpPr>
        <p:spPr>
          <a:xfrm flipH="1">
            <a:off x="567148" y="4737537"/>
            <a:ext cx="205362" cy="331076"/>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61C969AA-122A-45CF-79B0-370810D5FBC1}"/>
              </a:ext>
            </a:extLst>
          </p:cNvPr>
          <p:cNvCxnSpPr>
            <a:cxnSpLocks/>
          </p:cNvCxnSpPr>
          <p:nvPr/>
        </p:nvCxnSpPr>
        <p:spPr>
          <a:xfrm flipH="1">
            <a:off x="667653" y="4758559"/>
            <a:ext cx="253563" cy="434865"/>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2C7F4973-EEBC-F92A-EC58-95B863FA34B8}"/>
              </a:ext>
            </a:extLst>
          </p:cNvPr>
          <p:cNvCxnSpPr/>
          <p:nvPr/>
        </p:nvCxnSpPr>
        <p:spPr>
          <a:xfrm>
            <a:off x="567148" y="4776951"/>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E5268FB4-9641-AE4F-9BD1-C4CEB1100B6B}"/>
              </a:ext>
            </a:extLst>
          </p:cNvPr>
          <p:cNvCxnSpPr/>
          <p:nvPr/>
        </p:nvCxnSpPr>
        <p:spPr>
          <a:xfrm>
            <a:off x="735807" y="4725712"/>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5A274E8E-AAE4-2AF7-0A8E-E35CF58A37FB}"/>
              </a:ext>
            </a:extLst>
          </p:cNvPr>
          <p:cNvCxnSpPr/>
          <p:nvPr/>
        </p:nvCxnSpPr>
        <p:spPr>
          <a:xfrm>
            <a:off x="950529" y="4752647"/>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AD960EE0-0625-E1EF-3AB5-7B6949AD4899}"/>
              </a:ext>
            </a:extLst>
          </p:cNvPr>
          <p:cNvCxnSpPr/>
          <p:nvPr/>
        </p:nvCxnSpPr>
        <p:spPr>
          <a:xfrm>
            <a:off x="1165251" y="4779582"/>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D9864D24-734E-7026-CE6E-58317B599F25}"/>
              </a:ext>
            </a:extLst>
          </p:cNvPr>
          <p:cNvCxnSpPr/>
          <p:nvPr/>
        </p:nvCxnSpPr>
        <p:spPr>
          <a:xfrm>
            <a:off x="1379973" y="4806517"/>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3" name="Straight Connector 22">
            <a:extLst>
              <a:ext uri="{FF2B5EF4-FFF2-40B4-BE49-F238E27FC236}">
                <a16:creationId xmlns:a16="http://schemas.microsoft.com/office/drawing/2014/main" id="{5F3C7ED3-B400-68B9-D01E-88284AFE5782}"/>
              </a:ext>
            </a:extLst>
          </p:cNvPr>
          <p:cNvCxnSpPr/>
          <p:nvPr/>
        </p:nvCxnSpPr>
        <p:spPr>
          <a:xfrm>
            <a:off x="1594695" y="4833452"/>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a:extLst>
              <a:ext uri="{FF2B5EF4-FFF2-40B4-BE49-F238E27FC236}">
                <a16:creationId xmlns:a16="http://schemas.microsoft.com/office/drawing/2014/main" id="{52A79C42-767B-9950-EE90-003EF2B21ACB}"/>
              </a:ext>
            </a:extLst>
          </p:cNvPr>
          <p:cNvCxnSpPr/>
          <p:nvPr/>
        </p:nvCxnSpPr>
        <p:spPr>
          <a:xfrm>
            <a:off x="1762203" y="4816365"/>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609AA0E4-EE62-854D-4FFF-8FE310009771}"/>
              </a:ext>
            </a:extLst>
          </p:cNvPr>
          <p:cNvCxnSpPr/>
          <p:nvPr/>
        </p:nvCxnSpPr>
        <p:spPr>
          <a:xfrm>
            <a:off x="2024139" y="4728341"/>
            <a:ext cx="227286" cy="53997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235A79B1-9568-80EF-BC7C-FB31FA74E2FC}"/>
              </a:ext>
            </a:extLst>
          </p:cNvPr>
          <p:cNvCxnSpPr>
            <a:cxnSpLocks/>
          </p:cNvCxnSpPr>
          <p:nvPr/>
        </p:nvCxnSpPr>
        <p:spPr>
          <a:xfrm>
            <a:off x="3711690" y="2443655"/>
            <a:ext cx="1676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C7791EA-0678-486D-BC57-1ADD7D20C6E5}"/>
              </a:ext>
            </a:extLst>
          </p:cNvPr>
          <p:cNvSpPr txBox="1"/>
          <p:nvPr/>
        </p:nvSpPr>
        <p:spPr>
          <a:xfrm>
            <a:off x="3990209" y="1981990"/>
            <a:ext cx="1397880" cy="461665"/>
          </a:xfrm>
          <a:prstGeom prst="rect">
            <a:avLst/>
          </a:prstGeom>
          <a:noFill/>
        </p:spPr>
        <p:txBody>
          <a:bodyPr wrap="square" rtlCol="0">
            <a:spAutoFit/>
          </a:bodyPr>
          <a:lstStyle/>
          <a:p>
            <a:pPr algn="ctr"/>
            <a:r>
              <a:rPr lang="en-US" sz="2400" dirty="0"/>
              <a:t>SF + SR</a:t>
            </a:r>
          </a:p>
        </p:txBody>
      </p:sp>
      <p:sp>
        <p:nvSpPr>
          <p:cNvPr id="28" name="TextBox 27">
            <a:extLst>
              <a:ext uri="{FF2B5EF4-FFF2-40B4-BE49-F238E27FC236}">
                <a16:creationId xmlns:a16="http://schemas.microsoft.com/office/drawing/2014/main" id="{AD7E5B71-574E-5378-1F0B-12ED789DBC6F}"/>
              </a:ext>
            </a:extLst>
          </p:cNvPr>
          <p:cNvSpPr txBox="1"/>
          <p:nvPr/>
        </p:nvSpPr>
        <p:spPr>
          <a:xfrm>
            <a:off x="3990209" y="2859604"/>
            <a:ext cx="1397880" cy="461665"/>
          </a:xfrm>
          <a:prstGeom prst="rect">
            <a:avLst/>
          </a:prstGeom>
          <a:noFill/>
        </p:spPr>
        <p:txBody>
          <a:bodyPr wrap="square" rtlCol="0">
            <a:spAutoFit/>
          </a:bodyPr>
          <a:lstStyle/>
          <a:p>
            <a:pPr algn="ctr"/>
            <a:r>
              <a:rPr lang="en-US" sz="2400" dirty="0"/>
              <a:t>SF + SR</a:t>
            </a:r>
          </a:p>
        </p:txBody>
      </p:sp>
      <p:sp>
        <p:nvSpPr>
          <p:cNvPr id="29" name="TextBox 28">
            <a:extLst>
              <a:ext uri="{FF2B5EF4-FFF2-40B4-BE49-F238E27FC236}">
                <a16:creationId xmlns:a16="http://schemas.microsoft.com/office/drawing/2014/main" id="{719956C5-FBA4-FD3F-3F87-065B43436BB9}"/>
              </a:ext>
            </a:extLst>
          </p:cNvPr>
          <p:cNvSpPr txBox="1"/>
          <p:nvPr/>
        </p:nvSpPr>
        <p:spPr>
          <a:xfrm>
            <a:off x="3990209" y="3674156"/>
            <a:ext cx="1397880" cy="461665"/>
          </a:xfrm>
          <a:prstGeom prst="rect">
            <a:avLst/>
          </a:prstGeom>
          <a:noFill/>
        </p:spPr>
        <p:txBody>
          <a:bodyPr wrap="square" rtlCol="0">
            <a:spAutoFit/>
          </a:bodyPr>
          <a:lstStyle/>
          <a:p>
            <a:pPr algn="ctr"/>
            <a:r>
              <a:rPr lang="en-US" sz="2400" dirty="0"/>
              <a:t>SF + SR</a:t>
            </a:r>
          </a:p>
        </p:txBody>
      </p:sp>
      <p:pic>
        <p:nvPicPr>
          <p:cNvPr id="30" name="Picture 29">
            <a:extLst>
              <a:ext uri="{FF2B5EF4-FFF2-40B4-BE49-F238E27FC236}">
                <a16:creationId xmlns:a16="http://schemas.microsoft.com/office/drawing/2014/main" id="{90B9A595-2F7C-7533-FA27-BA9E627EE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8089" y="2093498"/>
            <a:ext cx="745746" cy="783204"/>
          </a:xfrm>
          <a:prstGeom prst="rect">
            <a:avLst/>
          </a:prstGeom>
        </p:spPr>
      </p:pic>
      <p:pic>
        <p:nvPicPr>
          <p:cNvPr id="31" name="Picture 30">
            <a:extLst>
              <a:ext uri="{FF2B5EF4-FFF2-40B4-BE49-F238E27FC236}">
                <a16:creationId xmlns:a16="http://schemas.microsoft.com/office/drawing/2014/main" id="{E325D896-6198-5193-68A3-245C104CC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143" y="2921466"/>
            <a:ext cx="716692" cy="752690"/>
          </a:xfrm>
          <a:prstGeom prst="rect">
            <a:avLst/>
          </a:prstGeom>
        </p:spPr>
      </p:pic>
      <p:pic>
        <p:nvPicPr>
          <p:cNvPr id="32" name="Picture 31">
            <a:extLst>
              <a:ext uri="{FF2B5EF4-FFF2-40B4-BE49-F238E27FC236}">
                <a16:creationId xmlns:a16="http://schemas.microsoft.com/office/drawing/2014/main" id="{0A7D6219-48ED-99CB-9508-039653EB72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9639" y="3833739"/>
            <a:ext cx="654196" cy="687054"/>
          </a:xfrm>
          <a:prstGeom prst="rect">
            <a:avLst/>
          </a:prstGeom>
        </p:spPr>
      </p:pic>
      <p:sp>
        <p:nvSpPr>
          <p:cNvPr id="33" name="Freeform: Shape 32">
            <a:extLst>
              <a:ext uri="{FF2B5EF4-FFF2-40B4-BE49-F238E27FC236}">
                <a16:creationId xmlns:a16="http://schemas.microsoft.com/office/drawing/2014/main" id="{3111E488-454D-D430-608A-4EC34AB16172}"/>
              </a:ext>
            </a:extLst>
          </p:cNvPr>
          <p:cNvSpPr/>
          <p:nvPr/>
        </p:nvSpPr>
        <p:spPr>
          <a:xfrm>
            <a:off x="1054812" y="5159267"/>
            <a:ext cx="2664372" cy="1142187"/>
          </a:xfrm>
          <a:custGeom>
            <a:avLst/>
            <a:gdLst>
              <a:gd name="connsiteX0" fmla="*/ 0 w 2664372"/>
              <a:gd name="connsiteY0" fmla="*/ 0 h 1142187"/>
              <a:gd name="connsiteX1" fmla="*/ 867103 w 2664372"/>
              <a:gd name="connsiteY1" fmla="*/ 1135117 h 1142187"/>
              <a:gd name="connsiteX2" fmla="*/ 2664372 w 2664372"/>
              <a:gd name="connsiteY2" fmla="*/ 394138 h 1142187"/>
            </a:gdLst>
            <a:ahLst/>
            <a:cxnLst>
              <a:cxn ang="0">
                <a:pos x="connsiteX0" y="connsiteY0"/>
              </a:cxn>
              <a:cxn ang="0">
                <a:pos x="connsiteX1" y="connsiteY1"/>
              </a:cxn>
              <a:cxn ang="0">
                <a:pos x="connsiteX2" y="connsiteY2"/>
              </a:cxn>
            </a:cxnLst>
            <a:rect l="l" t="t" r="r" b="b"/>
            <a:pathLst>
              <a:path w="2664372" h="1142187">
                <a:moveTo>
                  <a:pt x="0" y="0"/>
                </a:moveTo>
                <a:cubicBezTo>
                  <a:pt x="211520" y="534713"/>
                  <a:pt x="423041" y="1069427"/>
                  <a:pt x="867103" y="1135117"/>
                </a:cubicBezTo>
                <a:cubicBezTo>
                  <a:pt x="1311165" y="1200807"/>
                  <a:pt x="1987768" y="797472"/>
                  <a:pt x="2664372" y="394138"/>
                </a:cubicBezTo>
              </a:path>
            </a:pathLst>
          </a:cu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CD745428-D8E6-BCCE-0E41-3CA6BC19678F}"/>
              </a:ext>
            </a:extLst>
          </p:cNvPr>
          <p:cNvSpPr txBox="1"/>
          <p:nvPr/>
        </p:nvSpPr>
        <p:spPr>
          <a:xfrm>
            <a:off x="2716017" y="4759874"/>
            <a:ext cx="2175641" cy="830997"/>
          </a:xfrm>
          <a:prstGeom prst="rect">
            <a:avLst/>
          </a:prstGeom>
          <a:noFill/>
        </p:spPr>
        <p:txBody>
          <a:bodyPr wrap="square" rtlCol="0">
            <a:spAutoFit/>
          </a:bodyPr>
          <a:lstStyle/>
          <a:p>
            <a:pPr algn="ctr"/>
            <a:r>
              <a:rPr lang="en-US" sz="2400" b="1" dirty="0">
                <a:solidFill>
                  <a:srgbClr val="FF0000"/>
                </a:solidFill>
              </a:rPr>
              <a:t>Didn’t use as train sample</a:t>
            </a:r>
          </a:p>
        </p:txBody>
      </p:sp>
      <p:sp>
        <p:nvSpPr>
          <p:cNvPr id="35" name="Rectangle: Rounded Corners 34">
            <a:extLst>
              <a:ext uri="{FF2B5EF4-FFF2-40B4-BE49-F238E27FC236}">
                <a16:creationId xmlns:a16="http://schemas.microsoft.com/office/drawing/2014/main" id="{14FC99DE-7F80-2431-9C17-CFECF7117840}"/>
              </a:ext>
            </a:extLst>
          </p:cNvPr>
          <p:cNvSpPr/>
          <p:nvPr/>
        </p:nvSpPr>
        <p:spPr>
          <a:xfrm>
            <a:off x="6527553" y="1875416"/>
            <a:ext cx="5268097" cy="347238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F1DC575D-8659-C697-F002-D22392F3CE30}"/>
              </a:ext>
            </a:extLst>
          </p:cNvPr>
          <p:cNvCxnSpPr>
            <a:cxnSpLocks/>
          </p:cNvCxnSpPr>
          <p:nvPr/>
        </p:nvCxnSpPr>
        <p:spPr>
          <a:xfrm>
            <a:off x="3711690" y="3331779"/>
            <a:ext cx="1676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6DA9EB-EF00-9259-E7B7-0B48DF67EEC9}"/>
              </a:ext>
            </a:extLst>
          </p:cNvPr>
          <p:cNvCxnSpPr>
            <a:cxnSpLocks/>
          </p:cNvCxnSpPr>
          <p:nvPr/>
        </p:nvCxnSpPr>
        <p:spPr>
          <a:xfrm>
            <a:off x="3711690" y="4219903"/>
            <a:ext cx="16763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DE5C4D3D-2E57-9C23-C362-950FA59DE9AD}"/>
              </a:ext>
            </a:extLst>
          </p:cNvPr>
          <p:cNvSpPr/>
          <p:nvPr/>
        </p:nvSpPr>
        <p:spPr>
          <a:xfrm>
            <a:off x="8175182" y="2090244"/>
            <a:ext cx="2401614" cy="783204"/>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3200" b="1" dirty="0">
                <a:solidFill>
                  <a:srgbClr val="FF0000"/>
                </a:solidFill>
              </a:rPr>
              <a:t>Dataset</a:t>
            </a:r>
          </a:p>
        </p:txBody>
      </p:sp>
      <p:sp>
        <p:nvSpPr>
          <p:cNvPr id="39" name="Rectangle 38">
            <a:extLst>
              <a:ext uri="{FF2B5EF4-FFF2-40B4-BE49-F238E27FC236}">
                <a16:creationId xmlns:a16="http://schemas.microsoft.com/office/drawing/2014/main" id="{40268060-A8E7-924E-C0AA-85D96D5F2F1D}"/>
              </a:ext>
            </a:extLst>
          </p:cNvPr>
          <p:cNvSpPr/>
          <p:nvPr/>
        </p:nvSpPr>
        <p:spPr>
          <a:xfrm>
            <a:off x="7814826" y="3341765"/>
            <a:ext cx="1397880" cy="57806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solidFill>
                  <a:srgbClr val="002060"/>
                </a:solidFill>
              </a:rPr>
              <a:t>Train</a:t>
            </a:r>
            <a:endParaRPr lang="en-US" b="1" dirty="0">
              <a:solidFill>
                <a:srgbClr val="002060"/>
              </a:solidFill>
            </a:endParaRPr>
          </a:p>
        </p:txBody>
      </p:sp>
      <p:sp>
        <p:nvSpPr>
          <p:cNvPr id="40" name="Rectangle 39">
            <a:extLst>
              <a:ext uri="{FF2B5EF4-FFF2-40B4-BE49-F238E27FC236}">
                <a16:creationId xmlns:a16="http://schemas.microsoft.com/office/drawing/2014/main" id="{6D6FA847-2F7C-502D-686F-813154193D67}"/>
              </a:ext>
            </a:extLst>
          </p:cNvPr>
          <p:cNvSpPr/>
          <p:nvPr/>
        </p:nvSpPr>
        <p:spPr>
          <a:xfrm>
            <a:off x="9510764" y="3336509"/>
            <a:ext cx="1397880" cy="57806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solidFill>
                  <a:srgbClr val="002060"/>
                </a:solidFill>
              </a:rPr>
              <a:t>Test</a:t>
            </a:r>
            <a:endParaRPr lang="en-US" b="1" dirty="0">
              <a:solidFill>
                <a:srgbClr val="002060"/>
              </a:solidFill>
            </a:endParaRPr>
          </a:p>
        </p:txBody>
      </p:sp>
      <p:cxnSp>
        <p:nvCxnSpPr>
          <p:cNvPr id="41" name="Straight Arrow Connector 40">
            <a:extLst>
              <a:ext uri="{FF2B5EF4-FFF2-40B4-BE49-F238E27FC236}">
                <a16:creationId xmlns:a16="http://schemas.microsoft.com/office/drawing/2014/main" id="{BFBE93AD-33F4-0E7D-937B-72014D5F9FE2}"/>
              </a:ext>
            </a:extLst>
          </p:cNvPr>
          <p:cNvCxnSpPr>
            <a:cxnSpLocks/>
          </p:cNvCxnSpPr>
          <p:nvPr/>
        </p:nvCxnSpPr>
        <p:spPr>
          <a:xfrm>
            <a:off x="9404278" y="2897004"/>
            <a:ext cx="576821" cy="439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9A07458-0DEC-B96E-361F-56BA2F5D0292}"/>
              </a:ext>
            </a:extLst>
          </p:cNvPr>
          <p:cNvCxnSpPr/>
          <p:nvPr/>
        </p:nvCxnSpPr>
        <p:spPr>
          <a:xfrm flipH="1">
            <a:off x="8798028" y="2897004"/>
            <a:ext cx="577961" cy="439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53092A4-789F-5D55-7C2D-3C284510C7D5}"/>
              </a:ext>
            </a:extLst>
          </p:cNvPr>
          <p:cNvCxnSpPr>
            <a:cxnSpLocks/>
          </p:cNvCxnSpPr>
          <p:nvPr/>
        </p:nvCxnSpPr>
        <p:spPr>
          <a:xfrm>
            <a:off x="8486468" y="3963813"/>
            <a:ext cx="576821" cy="439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FB47763-8CCC-7A19-E2D1-6D34E9E740C1}"/>
              </a:ext>
            </a:extLst>
          </p:cNvPr>
          <p:cNvCxnSpPr/>
          <p:nvPr/>
        </p:nvCxnSpPr>
        <p:spPr>
          <a:xfrm flipH="1">
            <a:off x="7880218" y="3963813"/>
            <a:ext cx="577961" cy="439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D6417FF9-BE4E-71B0-B3F8-A5B6CD229936}"/>
              </a:ext>
            </a:extLst>
          </p:cNvPr>
          <p:cNvSpPr/>
          <p:nvPr/>
        </p:nvSpPr>
        <p:spPr>
          <a:xfrm>
            <a:off x="7088588" y="4465977"/>
            <a:ext cx="1397880" cy="57806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solidFill>
                  <a:srgbClr val="002060"/>
                </a:solidFill>
              </a:rPr>
              <a:t>Train</a:t>
            </a:r>
            <a:endParaRPr lang="en-US" b="1" dirty="0">
              <a:solidFill>
                <a:srgbClr val="002060"/>
              </a:solidFill>
            </a:endParaRPr>
          </a:p>
        </p:txBody>
      </p:sp>
      <p:sp>
        <p:nvSpPr>
          <p:cNvPr id="46" name="Rectangle 45">
            <a:extLst>
              <a:ext uri="{FF2B5EF4-FFF2-40B4-BE49-F238E27FC236}">
                <a16:creationId xmlns:a16="http://schemas.microsoft.com/office/drawing/2014/main" id="{16B2FAD0-612A-92E4-9E2C-C6CB5D4C8157}"/>
              </a:ext>
            </a:extLst>
          </p:cNvPr>
          <p:cNvSpPr/>
          <p:nvPr/>
        </p:nvSpPr>
        <p:spPr>
          <a:xfrm>
            <a:off x="8614325" y="4465977"/>
            <a:ext cx="1397880" cy="578069"/>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err="1">
                <a:solidFill>
                  <a:srgbClr val="002060"/>
                </a:solidFill>
              </a:rPr>
              <a:t>Valida</a:t>
            </a:r>
            <a:endParaRPr lang="en-US" b="1" dirty="0">
              <a:solidFill>
                <a:srgbClr val="002060"/>
              </a:solidFill>
            </a:endParaRPr>
          </a:p>
        </p:txBody>
      </p:sp>
      <p:sp>
        <p:nvSpPr>
          <p:cNvPr id="47" name="Left Brace 46">
            <a:extLst>
              <a:ext uri="{FF2B5EF4-FFF2-40B4-BE49-F238E27FC236}">
                <a16:creationId xmlns:a16="http://schemas.microsoft.com/office/drawing/2014/main" id="{523D8ACE-022F-E77F-D8C3-5DDA46F87C9E}"/>
              </a:ext>
            </a:extLst>
          </p:cNvPr>
          <p:cNvSpPr/>
          <p:nvPr/>
        </p:nvSpPr>
        <p:spPr>
          <a:xfrm>
            <a:off x="30559" y="2979682"/>
            <a:ext cx="348138" cy="23639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48" name="Straight Arrow Connector 47">
            <a:extLst>
              <a:ext uri="{FF2B5EF4-FFF2-40B4-BE49-F238E27FC236}">
                <a16:creationId xmlns:a16="http://schemas.microsoft.com/office/drawing/2014/main" id="{BD3A031E-34EB-5AC4-6412-727D50C8EAF8}"/>
              </a:ext>
            </a:extLst>
          </p:cNvPr>
          <p:cNvCxnSpPr/>
          <p:nvPr/>
        </p:nvCxnSpPr>
        <p:spPr>
          <a:xfrm>
            <a:off x="4549889" y="5590871"/>
            <a:ext cx="1256848" cy="400026"/>
          </a:xfrm>
          <a:prstGeom prst="straightConnector1">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9" name="TextBox 48">
            <a:extLst>
              <a:ext uri="{FF2B5EF4-FFF2-40B4-BE49-F238E27FC236}">
                <a16:creationId xmlns:a16="http://schemas.microsoft.com/office/drawing/2014/main" id="{D8FB08F0-838F-DD3B-4F37-2074989458DA}"/>
              </a:ext>
            </a:extLst>
          </p:cNvPr>
          <p:cNvSpPr txBox="1"/>
          <p:nvPr/>
        </p:nvSpPr>
        <p:spPr>
          <a:xfrm>
            <a:off x="5417143" y="5522028"/>
            <a:ext cx="2657856" cy="1384995"/>
          </a:xfrm>
          <a:prstGeom prst="rect">
            <a:avLst/>
          </a:prstGeom>
          <a:noFill/>
        </p:spPr>
        <p:txBody>
          <a:bodyPr wrap="square" rtlCol="0">
            <a:spAutoFit/>
          </a:bodyPr>
          <a:lstStyle/>
          <a:p>
            <a:pPr algn="ctr"/>
            <a:r>
              <a:rPr lang="en-US" sz="2800" b="1" dirty="0">
                <a:solidFill>
                  <a:srgbClr val="FF0000"/>
                </a:solidFill>
              </a:rPr>
              <a:t>Count as </a:t>
            </a:r>
          </a:p>
          <a:p>
            <a:pPr algn="ctr"/>
            <a:r>
              <a:rPr lang="en-US" sz="2800" b="1" dirty="0">
                <a:solidFill>
                  <a:srgbClr val="FF0000"/>
                </a:solidFill>
              </a:rPr>
              <a:t>validation</a:t>
            </a:r>
          </a:p>
          <a:p>
            <a:pPr algn="ctr"/>
            <a:r>
              <a:rPr lang="en-US" sz="2800" b="1" dirty="0">
                <a:solidFill>
                  <a:srgbClr val="FF0000"/>
                </a:solidFill>
              </a:rPr>
              <a:t>data</a:t>
            </a:r>
            <a:endParaRPr lang="en-US" sz="2400" b="1" dirty="0">
              <a:solidFill>
                <a:srgbClr val="FF0000"/>
              </a:solidFill>
            </a:endParaRPr>
          </a:p>
        </p:txBody>
      </p:sp>
      <p:sp>
        <p:nvSpPr>
          <p:cNvPr id="50" name="TextBox 49">
            <a:extLst>
              <a:ext uri="{FF2B5EF4-FFF2-40B4-BE49-F238E27FC236}">
                <a16:creationId xmlns:a16="http://schemas.microsoft.com/office/drawing/2014/main" id="{498EE4D6-49AC-14AD-9864-20C0C3D56A27}"/>
              </a:ext>
            </a:extLst>
          </p:cNvPr>
          <p:cNvSpPr txBox="1"/>
          <p:nvPr/>
        </p:nvSpPr>
        <p:spPr>
          <a:xfrm>
            <a:off x="7814826" y="5915949"/>
            <a:ext cx="1550348" cy="523220"/>
          </a:xfrm>
          <a:prstGeom prst="rect">
            <a:avLst/>
          </a:prstGeom>
          <a:noFill/>
        </p:spPr>
        <p:txBody>
          <a:bodyPr wrap="square" rtlCol="0">
            <a:spAutoFit/>
          </a:bodyPr>
          <a:lstStyle/>
          <a:p>
            <a:pPr algn="ctr"/>
            <a:r>
              <a:rPr lang="en-US" sz="2800" b="1">
                <a:solidFill>
                  <a:srgbClr val="FF0000"/>
                </a:solidFill>
              </a:rPr>
              <a:t>2/3*n</a:t>
            </a:r>
            <a:endParaRPr lang="en-US" sz="2400" b="1" dirty="0">
              <a:solidFill>
                <a:srgbClr val="FF0000"/>
              </a:solidFill>
            </a:endParaRPr>
          </a:p>
        </p:txBody>
      </p:sp>
      <p:sp>
        <p:nvSpPr>
          <p:cNvPr id="51" name="TextBox 50">
            <a:extLst>
              <a:ext uri="{FF2B5EF4-FFF2-40B4-BE49-F238E27FC236}">
                <a16:creationId xmlns:a16="http://schemas.microsoft.com/office/drawing/2014/main" id="{93DB2CCC-AA75-4C57-97CF-5A2614914791}"/>
              </a:ext>
            </a:extLst>
          </p:cNvPr>
          <p:cNvSpPr txBox="1"/>
          <p:nvPr/>
        </p:nvSpPr>
        <p:spPr>
          <a:xfrm>
            <a:off x="9212706" y="5785322"/>
            <a:ext cx="1550348" cy="523220"/>
          </a:xfrm>
          <a:prstGeom prst="rect">
            <a:avLst/>
          </a:prstGeom>
          <a:noFill/>
        </p:spPr>
        <p:txBody>
          <a:bodyPr wrap="square" rtlCol="0">
            <a:spAutoFit/>
          </a:bodyPr>
          <a:lstStyle/>
          <a:p>
            <a:pPr algn="ctr"/>
            <a:r>
              <a:rPr lang="en-US" sz="2800" b="1" dirty="0">
                <a:solidFill>
                  <a:srgbClr val="FF0000"/>
                </a:solidFill>
              </a:rPr>
              <a:t>1/3*n</a:t>
            </a:r>
            <a:endParaRPr lang="en-US" sz="2400" b="1" dirty="0">
              <a:solidFill>
                <a:srgbClr val="FF0000"/>
              </a:solidFill>
            </a:endParaRPr>
          </a:p>
        </p:txBody>
      </p:sp>
      <p:sp>
        <p:nvSpPr>
          <p:cNvPr id="52" name="Freeform: Shape 51">
            <a:extLst>
              <a:ext uri="{FF2B5EF4-FFF2-40B4-BE49-F238E27FC236}">
                <a16:creationId xmlns:a16="http://schemas.microsoft.com/office/drawing/2014/main" id="{1D88F79A-BD1B-CE59-AFEB-794D16A5ABB4}"/>
              </a:ext>
            </a:extLst>
          </p:cNvPr>
          <p:cNvSpPr/>
          <p:nvPr/>
        </p:nvSpPr>
        <p:spPr>
          <a:xfrm>
            <a:off x="7914290" y="5013434"/>
            <a:ext cx="662151" cy="914400"/>
          </a:xfrm>
          <a:custGeom>
            <a:avLst/>
            <a:gdLst>
              <a:gd name="connsiteX0" fmla="*/ 0 w 662151"/>
              <a:gd name="connsiteY0" fmla="*/ 0 h 914400"/>
              <a:gd name="connsiteX1" fmla="*/ 536027 w 662151"/>
              <a:gd name="connsiteY1" fmla="*/ 472966 h 914400"/>
              <a:gd name="connsiteX2" fmla="*/ 662151 w 662151"/>
              <a:gd name="connsiteY2" fmla="*/ 914400 h 914400"/>
            </a:gdLst>
            <a:ahLst/>
            <a:cxnLst>
              <a:cxn ang="0">
                <a:pos x="connsiteX0" y="connsiteY0"/>
              </a:cxn>
              <a:cxn ang="0">
                <a:pos x="connsiteX1" y="connsiteY1"/>
              </a:cxn>
              <a:cxn ang="0">
                <a:pos x="connsiteX2" y="connsiteY2"/>
              </a:cxn>
            </a:cxnLst>
            <a:rect l="l" t="t" r="r" b="b"/>
            <a:pathLst>
              <a:path w="662151" h="914400">
                <a:moveTo>
                  <a:pt x="0" y="0"/>
                </a:moveTo>
                <a:cubicBezTo>
                  <a:pt x="212834" y="160283"/>
                  <a:pt x="425669" y="320566"/>
                  <a:pt x="536027" y="472966"/>
                </a:cubicBezTo>
                <a:cubicBezTo>
                  <a:pt x="646386" y="625366"/>
                  <a:pt x="654268" y="769883"/>
                  <a:pt x="662151" y="914400"/>
                </a:cubicBezTo>
              </a:path>
            </a:pathLst>
          </a:cu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BA5BBA2C-03B2-CCD6-07F7-4C59E5F1642E}"/>
              </a:ext>
            </a:extLst>
          </p:cNvPr>
          <p:cNvSpPr/>
          <p:nvPr/>
        </p:nvSpPr>
        <p:spPr>
          <a:xfrm>
            <a:off x="9402143" y="4975991"/>
            <a:ext cx="662151" cy="914400"/>
          </a:xfrm>
          <a:custGeom>
            <a:avLst/>
            <a:gdLst>
              <a:gd name="connsiteX0" fmla="*/ 0 w 662151"/>
              <a:gd name="connsiteY0" fmla="*/ 0 h 914400"/>
              <a:gd name="connsiteX1" fmla="*/ 536027 w 662151"/>
              <a:gd name="connsiteY1" fmla="*/ 472966 h 914400"/>
              <a:gd name="connsiteX2" fmla="*/ 662151 w 662151"/>
              <a:gd name="connsiteY2" fmla="*/ 914400 h 914400"/>
            </a:gdLst>
            <a:ahLst/>
            <a:cxnLst>
              <a:cxn ang="0">
                <a:pos x="connsiteX0" y="connsiteY0"/>
              </a:cxn>
              <a:cxn ang="0">
                <a:pos x="connsiteX1" y="connsiteY1"/>
              </a:cxn>
              <a:cxn ang="0">
                <a:pos x="connsiteX2" y="connsiteY2"/>
              </a:cxn>
            </a:cxnLst>
            <a:rect l="l" t="t" r="r" b="b"/>
            <a:pathLst>
              <a:path w="662151" h="914400">
                <a:moveTo>
                  <a:pt x="0" y="0"/>
                </a:moveTo>
                <a:cubicBezTo>
                  <a:pt x="212834" y="160283"/>
                  <a:pt x="425669" y="320566"/>
                  <a:pt x="536027" y="472966"/>
                </a:cubicBezTo>
                <a:cubicBezTo>
                  <a:pt x="646386" y="625366"/>
                  <a:pt x="654268" y="769883"/>
                  <a:pt x="662151" y="914400"/>
                </a:cubicBezTo>
              </a:path>
            </a:pathLst>
          </a:cu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90591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502EA5-DE8A-E252-F9AF-2EEB3CB94A29}"/>
              </a:ext>
            </a:extLst>
          </p:cNvPr>
          <p:cNvSpPr txBox="1"/>
          <p:nvPr/>
        </p:nvSpPr>
        <p:spPr>
          <a:xfrm>
            <a:off x="2558844" y="128996"/>
            <a:ext cx="6916994" cy="707886"/>
          </a:xfrm>
          <a:prstGeom prst="rect">
            <a:avLst/>
          </a:prstGeom>
          <a:noFill/>
        </p:spPr>
        <p:txBody>
          <a:bodyPr wrap="square" rtlCol="0">
            <a:spAutoFit/>
          </a:bodyPr>
          <a:lstStyle/>
          <a:p>
            <a:pPr algn="ctr"/>
            <a:r>
              <a:rPr lang="en-US" sz="4000" b="1" dirty="0">
                <a:solidFill>
                  <a:srgbClr val="FF0000"/>
                </a:solidFill>
              </a:rPr>
              <a:t>Performance measure</a:t>
            </a:r>
          </a:p>
        </p:txBody>
      </p:sp>
      <p:sp>
        <p:nvSpPr>
          <p:cNvPr id="5" name="TextBox 4">
            <a:extLst>
              <a:ext uri="{FF2B5EF4-FFF2-40B4-BE49-F238E27FC236}">
                <a16:creationId xmlns:a16="http://schemas.microsoft.com/office/drawing/2014/main" id="{7DAC6629-FEA9-ABB6-1B2C-424057EA8D76}"/>
              </a:ext>
            </a:extLst>
          </p:cNvPr>
          <p:cNvSpPr txBox="1"/>
          <p:nvPr/>
        </p:nvSpPr>
        <p:spPr>
          <a:xfrm>
            <a:off x="2587495" y="868044"/>
            <a:ext cx="3834580" cy="584775"/>
          </a:xfrm>
          <a:prstGeom prst="rect">
            <a:avLst/>
          </a:prstGeom>
          <a:noFill/>
        </p:spPr>
        <p:txBody>
          <a:bodyPr wrap="square" rtlCol="0">
            <a:spAutoFit/>
          </a:bodyPr>
          <a:lstStyle/>
          <a:p>
            <a:pPr algn="ctr"/>
            <a:r>
              <a:rPr lang="en-US" sz="3200" b="1" dirty="0">
                <a:solidFill>
                  <a:srgbClr val="002060"/>
                </a:solidFill>
              </a:rPr>
              <a:t>Classification</a:t>
            </a:r>
          </a:p>
        </p:txBody>
      </p:sp>
      <p:sp>
        <p:nvSpPr>
          <p:cNvPr id="6" name="TextBox 5">
            <a:extLst>
              <a:ext uri="{FF2B5EF4-FFF2-40B4-BE49-F238E27FC236}">
                <a16:creationId xmlns:a16="http://schemas.microsoft.com/office/drawing/2014/main" id="{9F47D5FE-4C00-2FE8-2AC0-BD9445C8CFE5}"/>
              </a:ext>
            </a:extLst>
          </p:cNvPr>
          <p:cNvSpPr txBox="1"/>
          <p:nvPr/>
        </p:nvSpPr>
        <p:spPr>
          <a:xfrm>
            <a:off x="5689914" y="837038"/>
            <a:ext cx="3834580" cy="646331"/>
          </a:xfrm>
          <a:prstGeom prst="rect">
            <a:avLst/>
          </a:prstGeom>
          <a:noFill/>
        </p:spPr>
        <p:txBody>
          <a:bodyPr wrap="square" rtlCol="0">
            <a:spAutoFit/>
          </a:bodyPr>
          <a:lstStyle/>
          <a:p>
            <a:pPr algn="ctr"/>
            <a:r>
              <a:rPr lang="en-US" sz="3600" b="1" dirty="0">
                <a:solidFill>
                  <a:srgbClr val="002060"/>
                </a:solidFill>
              </a:rPr>
              <a:t>Regression</a:t>
            </a:r>
          </a:p>
        </p:txBody>
      </p:sp>
      <p:cxnSp>
        <p:nvCxnSpPr>
          <p:cNvPr id="7" name="Straight Arrow Connector 6">
            <a:extLst>
              <a:ext uri="{FF2B5EF4-FFF2-40B4-BE49-F238E27FC236}">
                <a16:creationId xmlns:a16="http://schemas.microsoft.com/office/drawing/2014/main" id="{AE05F150-0976-0781-5F4C-2BD135FA3DBF}"/>
              </a:ext>
            </a:extLst>
          </p:cNvPr>
          <p:cNvCxnSpPr>
            <a:cxnSpLocks/>
            <a:stCxn id="5" idx="2"/>
          </p:cNvCxnSpPr>
          <p:nvPr/>
        </p:nvCxnSpPr>
        <p:spPr>
          <a:xfrm>
            <a:off x="4504785" y="1452819"/>
            <a:ext cx="0" cy="501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59C7EB0-F1B8-150D-639D-193BF188CF0B}"/>
              </a:ext>
            </a:extLst>
          </p:cNvPr>
          <p:cNvCxnSpPr>
            <a:cxnSpLocks/>
          </p:cNvCxnSpPr>
          <p:nvPr/>
        </p:nvCxnSpPr>
        <p:spPr>
          <a:xfrm>
            <a:off x="7702813" y="1400871"/>
            <a:ext cx="0" cy="490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BA6AF44-B913-79E8-C9B9-27B2FB08E5F3}"/>
              </a:ext>
            </a:extLst>
          </p:cNvPr>
          <p:cNvSpPr txBox="1"/>
          <p:nvPr/>
        </p:nvSpPr>
        <p:spPr>
          <a:xfrm>
            <a:off x="2587495" y="1953871"/>
            <a:ext cx="3834580" cy="1077218"/>
          </a:xfrm>
          <a:prstGeom prst="rect">
            <a:avLst/>
          </a:prstGeom>
          <a:noFill/>
        </p:spPr>
        <p:txBody>
          <a:bodyPr wrap="square" rtlCol="0">
            <a:spAutoFit/>
          </a:bodyPr>
          <a:lstStyle/>
          <a:p>
            <a:pPr algn="ctr"/>
            <a:r>
              <a:rPr lang="en-US" sz="3200" b="1" dirty="0">
                <a:solidFill>
                  <a:srgbClr val="7030A0"/>
                </a:solidFill>
              </a:rPr>
              <a:t>Majority Voting Classifier</a:t>
            </a:r>
          </a:p>
        </p:txBody>
      </p:sp>
      <p:sp>
        <p:nvSpPr>
          <p:cNvPr id="10" name="TextBox 9">
            <a:extLst>
              <a:ext uri="{FF2B5EF4-FFF2-40B4-BE49-F238E27FC236}">
                <a16:creationId xmlns:a16="http://schemas.microsoft.com/office/drawing/2014/main" id="{E809CECE-AA56-EC69-17B9-687A3CA5331A}"/>
              </a:ext>
            </a:extLst>
          </p:cNvPr>
          <p:cNvSpPr txBox="1"/>
          <p:nvPr/>
        </p:nvSpPr>
        <p:spPr>
          <a:xfrm>
            <a:off x="5785523" y="2016196"/>
            <a:ext cx="3834580" cy="584775"/>
          </a:xfrm>
          <a:prstGeom prst="rect">
            <a:avLst/>
          </a:prstGeom>
          <a:noFill/>
        </p:spPr>
        <p:txBody>
          <a:bodyPr wrap="square" rtlCol="0">
            <a:spAutoFit/>
          </a:bodyPr>
          <a:lstStyle/>
          <a:p>
            <a:pPr algn="ctr"/>
            <a:r>
              <a:rPr lang="en-US" sz="3200" b="1" dirty="0">
                <a:solidFill>
                  <a:srgbClr val="7030A0"/>
                </a:solidFill>
              </a:rPr>
              <a:t>Average</a:t>
            </a:r>
          </a:p>
        </p:txBody>
      </p:sp>
      <p:sp>
        <p:nvSpPr>
          <p:cNvPr id="11" name="TextBox 10">
            <a:extLst>
              <a:ext uri="{FF2B5EF4-FFF2-40B4-BE49-F238E27FC236}">
                <a16:creationId xmlns:a16="http://schemas.microsoft.com/office/drawing/2014/main" id="{CB1F8720-E829-A207-71C3-78488C8EBF46}"/>
              </a:ext>
            </a:extLst>
          </p:cNvPr>
          <p:cNvSpPr txBox="1"/>
          <p:nvPr/>
        </p:nvSpPr>
        <p:spPr>
          <a:xfrm>
            <a:off x="296429" y="4589861"/>
            <a:ext cx="11441824" cy="1384995"/>
          </a:xfrm>
          <a:prstGeom prst="rect">
            <a:avLst/>
          </a:prstGeom>
          <a:noFill/>
        </p:spPr>
        <p:txBody>
          <a:bodyPr wrap="square">
            <a:spAutoFit/>
          </a:bodyPr>
          <a:lstStyle/>
          <a:p>
            <a:pPr algn="just"/>
            <a:r>
              <a:rPr lang="en-US" sz="2800" dirty="0"/>
              <a:t>The Out-Of-Bag (OOB) score is a measure of prediction accuracy in a Random Forest model. It is an internal method of cross-validation that uses the "out-of-bag" samples to test the model.</a:t>
            </a:r>
          </a:p>
        </p:txBody>
      </p:sp>
      <p:sp>
        <p:nvSpPr>
          <p:cNvPr id="12" name="TextBox 11">
            <a:extLst>
              <a:ext uri="{FF2B5EF4-FFF2-40B4-BE49-F238E27FC236}">
                <a16:creationId xmlns:a16="http://schemas.microsoft.com/office/drawing/2014/main" id="{A9E7C2B6-C663-46E7-7A8E-9FD5B8FACDE3}"/>
              </a:ext>
            </a:extLst>
          </p:cNvPr>
          <p:cNvSpPr txBox="1"/>
          <p:nvPr/>
        </p:nvSpPr>
        <p:spPr>
          <a:xfrm>
            <a:off x="3121997" y="3607159"/>
            <a:ext cx="6093372" cy="646331"/>
          </a:xfrm>
          <a:prstGeom prst="rect">
            <a:avLst/>
          </a:prstGeom>
          <a:noFill/>
        </p:spPr>
        <p:txBody>
          <a:bodyPr wrap="square">
            <a:spAutoFit/>
          </a:bodyPr>
          <a:lstStyle/>
          <a:p>
            <a:pPr algn="ctr"/>
            <a:r>
              <a:rPr lang="en-US" sz="3600" b="1" dirty="0">
                <a:solidFill>
                  <a:srgbClr val="FF0000"/>
                </a:solidFill>
              </a:rPr>
              <a:t>OOB(Out-Of-Bag)</a:t>
            </a:r>
          </a:p>
        </p:txBody>
      </p:sp>
    </p:spTree>
    <p:extLst>
      <p:ext uri="{BB962C8B-B14F-4D97-AF65-F5344CB8AC3E}">
        <p14:creationId xmlns:p14="http://schemas.microsoft.com/office/powerpoint/2010/main" val="3413419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CAFCF7-926F-EC89-33DC-14A22D453542}"/>
              </a:ext>
            </a:extLst>
          </p:cNvPr>
          <p:cNvSpPr txBox="1"/>
          <p:nvPr/>
        </p:nvSpPr>
        <p:spPr>
          <a:xfrm>
            <a:off x="3049250" y="250048"/>
            <a:ext cx="6093500" cy="769441"/>
          </a:xfrm>
          <a:prstGeom prst="rect">
            <a:avLst/>
          </a:prstGeom>
          <a:noFill/>
        </p:spPr>
        <p:txBody>
          <a:bodyPr wrap="square">
            <a:spAutoFit/>
          </a:bodyPr>
          <a:lstStyle/>
          <a:p>
            <a:pPr algn="ctr"/>
            <a:r>
              <a:rPr lang="en-US" sz="4400" b="1" dirty="0">
                <a:solidFill>
                  <a:srgbClr val="FF0000"/>
                </a:solidFill>
              </a:rPr>
              <a:t>Random Forest</a:t>
            </a:r>
          </a:p>
        </p:txBody>
      </p:sp>
      <p:sp>
        <p:nvSpPr>
          <p:cNvPr id="6" name="TextBox 5">
            <a:extLst>
              <a:ext uri="{FF2B5EF4-FFF2-40B4-BE49-F238E27FC236}">
                <a16:creationId xmlns:a16="http://schemas.microsoft.com/office/drawing/2014/main" id="{CFD13DC5-6A67-2233-05B4-A0F91884FB76}"/>
              </a:ext>
            </a:extLst>
          </p:cNvPr>
          <p:cNvSpPr txBox="1"/>
          <p:nvPr/>
        </p:nvSpPr>
        <p:spPr>
          <a:xfrm>
            <a:off x="276068" y="757879"/>
            <a:ext cx="2773182" cy="523220"/>
          </a:xfrm>
          <a:prstGeom prst="rect">
            <a:avLst/>
          </a:prstGeom>
          <a:noFill/>
        </p:spPr>
        <p:txBody>
          <a:bodyPr wrap="square">
            <a:spAutoFit/>
          </a:bodyPr>
          <a:lstStyle/>
          <a:p>
            <a:pPr algn="ctr"/>
            <a:r>
              <a:rPr lang="en-US" sz="2800" b="1" dirty="0">
                <a:solidFill>
                  <a:srgbClr val="002060"/>
                </a:solidFill>
              </a:rPr>
              <a:t>Advantages:</a:t>
            </a:r>
          </a:p>
        </p:txBody>
      </p:sp>
      <p:sp>
        <p:nvSpPr>
          <p:cNvPr id="7" name="Rectangle 1">
            <a:extLst>
              <a:ext uri="{FF2B5EF4-FFF2-40B4-BE49-F238E27FC236}">
                <a16:creationId xmlns:a16="http://schemas.microsoft.com/office/drawing/2014/main" id="{8459E7A5-95DB-76CB-C744-AF50332F7E09}"/>
              </a:ext>
            </a:extLst>
          </p:cNvPr>
          <p:cNvSpPr>
            <a:spLocks noChangeArrowheads="1"/>
          </p:cNvSpPr>
          <p:nvPr/>
        </p:nvSpPr>
        <p:spPr bwMode="auto">
          <a:xfrm>
            <a:off x="1319134" y="1281099"/>
            <a:ext cx="767133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High accuracy through ensemble learning.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Resistant to overfitting.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Handles missing data effectively.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Provides feature importance for better insights.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Versatile for both classification and regression tasks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TextBox 7">
            <a:extLst>
              <a:ext uri="{FF2B5EF4-FFF2-40B4-BE49-F238E27FC236}">
                <a16:creationId xmlns:a16="http://schemas.microsoft.com/office/drawing/2014/main" id="{52B35373-675B-55A7-E0DB-35D052C37D6E}"/>
              </a:ext>
            </a:extLst>
          </p:cNvPr>
          <p:cNvSpPr txBox="1"/>
          <p:nvPr/>
        </p:nvSpPr>
        <p:spPr>
          <a:xfrm>
            <a:off x="276068" y="3418274"/>
            <a:ext cx="2773182" cy="523220"/>
          </a:xfrm>
          <a:prstGeom prst="rect">
            <a:avLst/>
          </a:prstGeom>
          <a:noFill/>
        </p:spPr>
        <p:txBody>
          <a:bodyPr wrap="square">
            <a:spAutoFit/>
          </a:bodyPr>
          <a:lstStyle/>
          <a:p>
            <a:pPr algn="ctr"/>
            <a:r>
              <a:rPr lang="en-US" sz="2800" b="1" dirty="0">
                <a:solidFill>
                  <a:srgbClr val="002060"/>
                </a:solidFill>
              </a:rPr>
              <a:t>Dis-advantages:</a:t>
            </a:r>
          </a:p>
        </p:txBody>
      </p:sp>
      <p:sp>
        <p:nvSpPr>
          <p:cNvPr id="9" name="Rectangle 2">
            <a:extLst>
              <a:ext uri="{FF2B5EF4-FFF2-40B4-BE49-F238E27FC236}">
                <a16:creationId xmlns:a16="http://schemas.microsoft.com/office/drawing/2014/main" id="{F5E16658-86F4-548F-76E0-9C4E4BB3773B}"/>
              </a:ext>
            </a:extLst>
          </p:cNvPr>
          <p:cNvSpPr>
            <a:spLocks noChangeArrowheads="1"/>
          </p:cNvSpPr>
          <p:nvPr/>
        </p:nvSpPr>
        <p:spPr bwMode="auto">
          <a:xfrm>
            <a:off x="1319134" y="3941494"/>
            <a:ext cx="82189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Complex and difficult to interpret.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Slower predictions with a large number of trees.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Memory-intensive.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Slight increase in bias compared to individual trees.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Requires careful tuning to balance accuracy and speed. </a:t>
            </a:r>
          </a:p>
        </p:txBody>
      </p:sp>
    </p:spTree>
    <p:extLst>
      <p:ext uri="{BB962C8B-B14F-4D97-AF65-F5344CB8AC3E}">
        <p14:creationId xmlns:p14="http://schemas.microsoft.com/office/powerpoint/2010/main" val="1212350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B2212-2F15-2888-0488-6203057AF7F6}"/>
              </a:ext>
            </a:extLst>
          </p:cNvPr>
          <p:cNvSpPr txBox="1"/>
          <p:nvPr/>
        </p:nvSpPr>
        <p:spPr>
          <a:xfrm>
            <a:off x="3049250" y="250048"/>
            <a:ext cx="6093500" cy="769441"/>
          </a:xfrm>
          <a:prstGeom prst="rect">
            <a:avLst/>
          </a:prstGeom>
          <a:noFill/>
        </p:spPr>
        <p:txBody>
          <a:bodyPr wrap="square">
            <a:spAutoFit/>
          </a:bodyPr>
          <a:lstStyle/>
          <a:p>
            <a:pPr algn="ctr"/>
            <a:r>
              <a:rPr lang="en-US" sz="4400" b="1" dirty="0">
                <a:solidFill>
                  <a:srgbClr val="FF0000"/>
                </a:solidFill>
              </a:rPr>
              <a:t>Random Forest</a:t>
            </a:r>
          </a:p>
        </p:txBody>
      </p:sp>
      <p:sp>
        <p:nvSpPr>
          <p:cNvPr id="5" name="TextBox 4">
            <a:extLst>
              <a:ext uri="{FF2B5EF4-FFF2-40B4-BE49-F238E27FC236}">
                <a16:creationId xmlns:a16="http://schemas.microsoft.com/office/drawing/2014/main" id="{880AD2BB-CC9D-A458-D197-7D0EB88A4A6B}"/>
              </a:ext>
            </a:extLst>
          </p:cNvPr>
          <p:cNvSpPr txBox="1"/>
          <p:nvPr/>
        </p:nvSpPr>
        <p:spPr>
          <a:xfrm>
            <a:off x="4706909" y="1628028"/>
            <a:ext cx="2773182" cy="646331"/>
          </a:xfrm>
          <a:prstGeom prst="rect">
            <a:avLst/>
          </a:prstGeom>
          <a:noFill/>
        </p:spPr>
        <p:txBody>
          <a:bodyPr wrap="square">
            <a:spAutoFit/>
          </a:bodyPr>
          <a:lstStyle/>
          <a:p>
            <a:pPr algn="ctr"/>
            <a:r>
              <a:rPr lang="en-US" sz="3600" b="1" dirty="0">
                <a:solidFill>
                  <a:srgbClr val="002060"/>
                </a:solidFill>
              </a:rPr>
              <a:t>Applications</a:t>
            </a:r>
          </a:p>
        </p:txBody>
      </p:sp>
      <p:sp>
        <p:nvSpPr>
          <p:cNvPr id="6" name="Rectangle 1">
            <a:extLst>
              <a:ext uri="{FF2B5EF4-FFF2-40B4-BE49-F238E27FC236}">
                <a16:creationId xmlns:a16="http://schemas.microsoft.com/office/drawing/2014/main" id="{13EAE46F-0C1A-420D-233D-D43678000B0E}"/>
              </a:ext>
            </a:extLst>
          </p:cNvPr>
          <p:cNvSpPr>
            <a:spLocks noChangeArrowheads="1"/>
          </p:cNvSpPr>
          <p:nvPr/>
        </p:nvSpPr>
        <p:spPr bwMode="auto">
          <a:xfrm>
            <a:off x="2708983" y="2825088"/>
            <a:ext cx="676903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FF0000"/>
                </a:solidFill>
                <a:effectLst/>
                <a:latin typeface="Arial" panose="020B0604020202020204" pitchFamily="34" charset="0"/>
              </a:rPr>
              <a:t>Healthcare</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Predicting patient outcomes.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FF0000"/>
                </a:solidFill>
                <a:effectLst/>
                <a:latin typeface="Arial" panose="020B0604020202020204" pitchFamily="34" charset="0"/>
              </a:rPr>
              <a:t>Finance</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Credit scoring and fraud detection.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FF0000"/>
                </a:solidFill>
                <a:effectLst/>
                <a:latin typeface="Arial" panose="020B0604020202020204" pitchFamily="34" charset="0"/>
              </a:rPr>
              <a:t>Marketing</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Customer segmentation.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FF0000"/>
                </a:solidFill>
                <a:effectLst/>
                <a:latin typeface="Arial" panose="020B0604020202020204" pitchFamily="34" charset="0"/>
              </a:rPr>
              <a:t>Environmental</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rgbClr val="FF0000"/>
                </a:solidFill>
                <a:effectLst/>
                <a:latin typeface="Arial" panose="020B0604020202020204" pitchFamily="34" charset="0"/>
              </a:rPr>
              <a:t>Science</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Weather prediction.</a:t>
            </a:r>
          </a:p>
        </p:txBody>
      </p:sp>
      <p:sp>
        <p:nvSpPr>
          <p:cNvPr id="8" name="TextBox 7">
            <a:extLst>
              <a:ext uri="{FF2B5EF4-FFF2-40B4-BE49-F238E27FC236}">
                <a16:creationId xmlns:a16="http://schemas.microsoft.com/office/drawing/2014/main" id="{CF3D8AD5-B96C-F2C6-F7AB-8B0C0306B191}"/>
              </a:ext>
            </a:extLst>
          </p:cNvPr>
          <p:cNvSpPr txBox="1"/>
          <p:nvPr/>
        </p:nvSpPr>
        <p:spPr>
          <a:xfrm>
            <a:off x="3046751" y="3240586"/>
            <a:ext cx="6093500" cy="369332"/>
          </a:xfrm>
          <a:prstGeom prst="rect">
            <a:avLst/>
          </a:prstGeom>
          <a:noFill/>
        </p:spPr>
        <p:txBody>
          <a:bodyPr wrap="square">
            <a:spAutoFit/>
          </a:bodyPr>
          <a:lstStyle/>
          <a:p>
            <a:r>
              <a:rPr lang="en-US" sz="1800" b="1" dirty="0">
                <a:solidFill>
                  <a:srgbClr val="002060"/>
                </a:solidFill>
              </a:rPr>
              <a:t>:</a:t>
            </a:r>
            <a:endParaRPr lang="en-US" dirty="0"/>
          </a:p>
        </p:txBody>
      </p:sp>
    </p:spTree>
    <p:extLst>
      <p:ext uri="{BB962C8B-B14F-4D97-AF65-F5344CB8AC3E}">
        <p14:creationId xmlns:p14="http://schemas.microsoft.com/office/powerpoint/2010/main" val="365814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4BCBC8-B8E9-D12F-684E-5FB28E22E5CC}"/>
              </a:ext>
            </a:extLst>
          </p:cNvPr>
          <p:cNvSpPr txBox="1"/>
          <p:nvPr/>
        </p:nvSpPr>
        <p:spPr>
          <a:xfrm>
            <a:off x="2580806" y="2967335"/>
            <a:ext cx="7030387" cy="923330"/>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sz="5400" b="1" dirty="0">
                <a:solidFill>
                  <a:srgbClr val="FF0000"/>
                </a:solidFill>
              </a:rPr>
              <a:t>Decision Tree Pruning</a:t>
            </a:r>
          </a:p>
        </p:txBody>
      </p:sp>
    </p:spTree>
    <p:extLst>
      <p:ext uri="{BB962C8B-B14F-4D97-AF65-F5344CB8AC3E}">
        <p14:creationId xmlns:p14="http://schemas.microsoft.com/office/powerpoint/2010/main" val="2006347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D63715-5189-6AA4-10F7-95965556AA2A}"/>
              </a:ext>
            </a:extLst>
          </p:cNvPr>
          <p:cNvSpPr txBox="1"/>
          <p:nvPr/>
        </p:nvSpPr>
        <p:spPr>
          <a:xfrm>
            <a:off x="0" y="176015"/>
            <a:ext cx="4283438" cy="523220"/>
          </a:xfrm>
          <a:prstGeom prst="rect">
            <a:avLst/>
          </a:prstGeom>
          <a:noFill/>
        </p:spPr>
        <p:txBody>
          <a:bodyPr wrap="square">
            <a:spAutoFit/>
          </a:bodyPr>
          <a:lstStyle/>
          <a:p>
            <a:pPr algn="ctr"/>
            <a:r>
              <a:rPr lang="en-US" sz="2800" b="1" dirty="0">
                <a:solidFill>
                  <a:srgbClr val="FF0000"/>
                </a:solidFill>
              </a:rPr>
              <a:t>Neural Network Pruning</a:t>
            </a:r>
          </a:p>
        </p:txBody>
      </p:sp>
      <p:sp>
        <p:nvSpPr>
          <p:cNvPr id="6" name="Rectangle 1">
            <a:extLst>
              <a:ext uri="{FF2B5EF4-FFF2-40B4-BE49-F238E27FC236}">
                <a16:creationId xmlns:a16="http://schemas.microsoft.com/office/drawing/2014/main" id="{02FB23D0-A4E1-DE29-6005-A3B8AA3AC7DA}"/>
              </a:ext>
            </a:extLst>
          </p:cNvPr>
          <p:cNvSpPr>
            <a:spLocks noChangeArrowheads="1"/>
          </p:cNvSpPr>
          <p:nvPr/>
        </p:nvSpPr>
        <p:spPr bwMode="auto">
          <a:xfrm>
            <a:off x="794478" y="699235"/>
            <a:ext cx="1115645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002060"/>
                </a:solidFill>
                <a:effectLst/>
                <a:latin typeface="Arial" panose="020B0604020202020204" pitchFamily="34" charset="0"/>
              </a:rPr>
              <a:t>Weight Pruning  </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Removing connections with small weights or setting them </a:t>
            </a:r>
          </a:p>
          <a:p>
            <a:pPr lvl="2"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to zero.</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002060"/>
                </a:solidFill>
                <a:effectLst/>
                <a:latin typeface="Arial" panose="020B0604020202020204" pitchFamily="34" charset="0"/>
              </a:rPr>
              <a:t>Neuron Pruning</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Removing entire neurons from the network.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rgbClr val="002060"/>
                </a:solidFill>
                <a:effectLst/>
                <a:latin typeface="Arial" panose="020B0604020202020204" pitchFamily="34" charset="0"/>
              </a:rPr>
              <a:t>Layer Pruning   </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Removing entire layers of the neural network. </a:t>
            </a:r>
          </a:p>
        </p:txBody>
      </p:sp>
      <p:sp>
        <p:nvSpPr>
          <p:cNvPr id="8" name="TextBox 7">
            <a:extLst>
              <a:ext uri="{FF2B5EF4-FFF2-40B4-BE49-F238E27FC236}">
                <a16:creationId xmlns:a16="http://schemas.microsoft.com/office/drawing/2014/main" id="{14548DAE-0B46-5713-B7A4-45E0BB44B16D}"/>
              </a:ext>
            </a:extLst>
          </p:cNvPr>
          <p:cNvSpPr txBox="1"/>
          <p:nvPr/>
        </p:nvSpPr>
        <p:spPr>
          <a:xfrm>
            <a:off x="0" y="2320125"/>
            <a:ext cx="4283438" cy="584775"/>
          </a:xfrm>
          <a:prstGeom prst="rect">
            <a:avLst/>
          </a:prstGeom>
          <a:noFill/>
        </p:spPr>
        <p:txBody>
          <a:bodyPr wrap="square">
            <a:spAutoFit/>
          </a:bodyPr>
          <a:lstStyle/>
          <a:p>
            <a:pPr algn="ctr"/>
            <a:r>
              <a:rPr lang="en-US" sz="3200" b="1" dirty="0">
                <a:solidFill>
                  <a:srgbClr val="FF0000"/>
                </a:solidFill>
              </a:rPr>
              <a:t>Decision Tree Pruning</a:t>
            </a:r>
          </a:p>
        </p:txBody>
      </p:sp>
      <p:sp>
        <p:nvSpPr>
          <p:cNvPr id="10" name="TextBox 9">
            <a:extLst>
              <a:ext uri="{FF2B5EF4-FFF2-40B4-BE49-F238E27FC236}">
                <a16:creationId xmlns:a16="http://schemas.microsoft.com/office/drawing/2014/main" id="{D9EFCC1E-3463-BAD0-7BF3-FD3306B9FE21}"/>
              </a:ext>
            </a:extLst>
          </p:cNvPr>
          <p:cNvSpPr txBox="1"/>
          <p:nvPr/>
        </p:nvSpPr>
        <p:spPr>
          <a:xfrm>
            <a:off x="832654" y="2792115"/>
            <a:ext cx="10526691" cy="1631216"/>
          </a:xfrm>
          <a:prstGeom prst="rect">
            <a:avLst/>
          </a:prstGeom>
          <a:noFill/>
        </p:spPr>
        <p:txBody>
          <a:bodyPr wrap="square">
            <a:spAutoFit/>
          </a:bodyPr>
          <a:lstStyle/>
          <a:p>
            <a:pPr algn="just"/>
            <a:r>
              <a:rPr lang="en-US" sz="2800" b="1" dirty="0">
                <a:solidFill>
                  <a:srgbClr val="002060"/>
                </a:solidFill>
              </a:rPr>
              <a:t>Pre-Pruning</a:t>
            </a:r>
            <a:r>
              <a:rPr lang="en-US" sz="2800" b="1" dirty="0"/>
              <a:t>:</a:t>
            </a:r>
            <a:r>
              <a:rPr lang="en-US" sz="2800" dirty="0"/>
              <a:t> </a:t>
            </a:r>
            <a:r>
              <a:rPr lang="en-US" sz="2400" dirty="0"/>
              <a:t>Involves setting a threshold on certain parameters (e.g., maximum depth of the tree, minimum number of samples per leaf) while growing the tree. Tree construction stops when the threshold is reached to prevent the tree from growing too large.</a:t>
            </a:r>
          </a:p>
        </p:txBody>
      </p:sp>
      <p:sp>
        <p:nvSpPr>
          <p:cNvPr id="12" name="TextBox 11">
            <a:extLst>
              <a:ext uri="{FF2B5EF4-FFF2-40B4-BE49-F238E27FC236}">
                <a16:creationId xmlns:a16="http://schemas.microsoft.com/office/drawing/2014/main" id="{B40421B2-5148-9467-AC0E-5F049AAECC32}"/>
              </a:ext>
            </a:extLst>
          </p:cNvPr>
          <p:cNvSpPr txBox="1"/>
          <p:nvPr/>
        </p:nvSpPr>
        <p:spPr>
          <a:xfrm>
            <a:off x="832654" y="4425484"/>
            <a:ext cx="10526690" cy="1261884"/>
          </a:xfrm>
          <a:prstGeom prst="rect">
            <a:avLst/>
          </a:prstGeom>
          <a:noFill/>
        </p:spPr>
        <p:txBody>
          <a:bodyPr wrap="square">
            <a:spAutoFit/>
          </a:bodyPr>
          <a:lstStyle/>
          <a:p>
            <a:pPr algn="just"/>
            <a:r>
              <a:rPr lang="en-US" sz="2800" b="1" dirty="0">
                <a:solidFill>
                  <a:srgbClr val="002060"/>
                </a:solidFill>
              </a:rPr>
              <a:t>Post-Pruning</a:t>
            </a:r>
            <a:r>
              <a:rPr lang="en-US" sz="2400" b="1" dirty="0"/>
              <a:t>:</a:t>
            </a:r>
            <a:r>
              <a:rPr lang="en-US" sz="2400" dirty="0"/>
              <a:t> Involves growing the tree to its full depth and then removing nodes or branches that do not provide significant predictive power. Pruning decisions are based on metrics like cross-validation accuracy or information gain</a:t>
            </a:r>
          </a:p>
        </p:txBody>
      </p:sp>
      <p:sp>
        <p:nvSpPr>
          <p:cNvPr id="14" name="TextBox 13">
            <a:extLst>
              <a:ext uri="{FF2B5EF4-FFF2-40B4-BE49-F238E27FC236}">
                <a16:creationId xmlns:a16="http://schemas.microsoft.com/office/drawing/2014/main" id="{8D48C995-F046-6FEC-7E92-08ED75A0A218}"/>
              </a:ext>
            </a:extLst>
          </p:cNvPr>
          <p:cNvSpPr txBox="1"/>
          <p:nvPr/>
        </p:nvSpPr>
        <p:spPr>
          <a:xfrm>
            <a:off x="794478" y="5712489"/>
            <a:ext cx="10320028" cy="892552"/>
          </a:xfrm>
          <a:prstGeom prst="rect">
            <a:avLst/>
          </a:prstGeom>
          <a:noFill/>
        </p:spPr>
        <p:txBody>
          <a:bodyPr wrap="square">
            <a:spAutoFit/>
          </a:bodyPr>
          <a:lstStyle/>
          <a:p>
            <a:pPr algn="just"/>
            <a:r>
              <a:rPr lang="en-US" sz="2800" b="1" dirty="0">
                <a:solidFill>
                  <a:srgbClr val="FF0000"/>
                </a:solidFill>
              </a:rPr>
              <a:t>Note</a:t>
            </a:r>
            <a:r>
              <a:rPr lang="en-US" sz="2400" b="1" dirty="0"/>
              <a:t>:</a:t>
            </a:r>
            <a:r>
              <a:rPr lang="en-US" sz="2400" dirty="0"/>
              <a:t> For large datasets, pre-pruning is generally recommended over post-pruning.</a:t>
            </a:r>
          </a:p>
        </p:txBody>
      </p:sp>
    </p:spTree>
    <p:extLst>
      <p:ext uri="{BB962C8B-B14F-4D97-AF65-F5344CB8AC3E}">
        <p14:creationId xmlns:p14="http://schemas.microsoft.com/office/powerpoint/2010/main" val="3042088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D71B8D-09C4-7039-62DC-067BF4172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8295" y="1454851"/>
            <a:ext cx="6066020" cy="3948298"/>
          </a:xfrm>
          <a:prstGeom prst="rect">
            <a:avLst/>
          </a:prstGeom>
        </p:spPr>
      </p:pic>
      <p:sp>
        <p:nvSpPr>
          <p:cNvPr id="6" name="TextBox 5">
            <a:extLst>
              <a:ext uri="{FF2B5EF4-FFF2-40B4-BE49-F238E27FC236}">
                <a16:creationId xmlns:a16="http://schemas.microsoft.com/office/drawing/2014/main" id="{3D5F1081-E394-7AA7-D839-23ABAC5827CC}"/>
              </a:ext>
            </a:extLst>
          </p:cNvPr>
          <p:cNvSpPr txBox="1"/>
          <p:nvPr/>
        </p:nvSpPr>
        <p:spPr>
          <a:xfrm>
            <a:off x="6946692" y="1381593"/>
            <a:ext cx="2188564" cy="461665"/>
          </a:xfrm>
          <a:prstGeom prst="rect">
            <a:avLst/>
          </a:prstGeom>
          <a:noFill/>
        </p:spPr>
        <p:txBody>
          <a:bodyPr wrap="square" rtlCol="0">
            <a:spAutoFit/>
          </a:bodyPr>
          <a:lstStyle/>
          <a:p>
            <a:pPr algn="ctr"/>
            <a:r>
              <a:rPr lang="en-US" sz="2400" b="1" dirty="0">
                <a:solidFill>
                  <a:srgbClr val="FF0000"/>
                </a:solidFill>
              </a:rPr>
              <a:t>After</a:t>
            </a:r>
            <a:endParaRPr lang="en-US" b="1" dirty="0">
              <a:solidFill>
                <a:srgbClr val="FF0000"/>
              </a:solidFill>
            </a:endParaRPr>
          </a:p>
        </p:txBody>
      </p:sp>
      <p:sp>
        <p:nvSpPr>
          <p:cNvPr id="7" name="TextBox 6">
            <a:extLst>
              <a:ext uri="{FF2B5EF4-FFF2-40B4-BE49-F238E27FC236}">
                <a16:creationId xmlns:a16="http://schemas.microsoft.com/office/drawing/2014/main" id="{2066049E-2BDB-09E6-27F9-4D139A7F32F7}"/>
              </a:ext>
            </a:extLst>
          </p:cNvPr>
          <p:cNvSpPr txBox="1"/>
          <p:nvPr/>
        </p:nvSpPr>
        <p:spPr>
          <a:xfrm>
            <a:off x="3345305" y="1456544"/>
            <a:ext cx="2188564" cy="461665"/>
          </a:xfrm>
          <a:prstGeom prst="rect">
            <a:avLst/>
          </a:prstGeom>
          <a:noFill/>
        </p:spPr>
        <p:txBody>
          <a:bodyPr wrap="square" rtlCol="0">
            <a:spAutoFit/>
          </a:bodyPr>
          <a:lstStyle/>
          <a:p>
            <a:pPr algn="ctr"/>
            <a:r>
              <a:rPr lang="en-US" sz="2400" b="1" dirty="0">
                <a:solidFill>
                  <a:srgbClr val="FF0000"/>
                </a:solidFill>
              </a:rPr>
              <a:t>Before</a:t>
            </a:r>
            <a:endParaRPr lang="en-US" b="1" dirty="0">
              <a:solidFill>
                <a:srgbClr val="FF0000"/>
              </a:solidFill>
            </a:endParaRPr>
          </a:p>
        </p:txBody>
      </p:sp>
      <p:sp>
        <p:nvSpPr>
          <p:cNvPr id="8" name="TextBox 7">
            <a:extLst>
              <a:ext uri="{FF2B5EF4-FFF2-40B4-BE49-F238E27FC236}">
                <a16:creationId xmlns:a16="http://schemas.microsoft.com/office/drawing/2014/main" id="{7FC3F9F7-55D7-1711-7151-4189B99D3E41}"/>
              </a:ext>
            </a:extLst>
          </p:cNvPr>
          <p:cNvSpPr txBox="1"/>
          <p:nvPr/>
        </p:nvSpPr>
        <p:spPr>
          <a:xfrm>
            <a:off x="4508292" y="374754"/>
            <a:ext cx="3175416" cy="584775"/>
          </a:xfrm>
          <a:prstGeom prst="rect">
            <a:avLst/>
          </a:prstGeom>
          <a:noFill/>
        </p:spPr>
        <p:txBody>
          <a:bodyPr wrap="square" rtlCol="0">
            <a:spAutoFit/>
          </a:bodyPr>
          <a:lstStyle/>
          <a:p>
            <a:pPr algn="ctr"/>
            <a:r>
              <a:rPr lang="en-US" sz="3200" b="1" dirty="0">
                <a:solidFill>
                  <a:srgbClr val="FF0000"/>
                </a:solidFill>
              </a:rPr>
              <a:t>Pruning</a:t>
            </a:r>
            <a:endParaRPr lang="en-US" b="1" dirty="0">
              <a:solidFill>
                <a:srgbClr val="FF0000"/>
              </a:solidFill>
            </a:endParaRPr>
          </a:p>
        </p:txBody>
      </p:sp>
    </p:spTree>
    <p:extLst>
      <p:ext uri="{BB962C8B-B14F-4D97-AF65-F5344CB8AC3E}">
        <p14:creationId xmlns:p14="http://schemas.microsoft.com/office/powerpoint/2010/main" val="4044170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TotalTime>
  <Words>562</Words>
  <Application>Microsoft Office PowerPoint</Application>
  <PresentationFormat>Widescreen</PresentationFormat>
  <Paragraphs>107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Sajib Saha</dc:creator>
  <cp:lastModifiedBy>Faculty</cp:lastModifiedBy>
  <cp:revision>3</cp:revision>
  <dcterms:created xsi:type="dcterms:W3CDTF">2024-08-21T15:26:22Z</dcterms:created>
  <dcterms:modified xsi:type="dcterms:W3CDTF">2026-02-01T15:21:51Z</dcterms:modified>
</cp:coreProperties>
</file>